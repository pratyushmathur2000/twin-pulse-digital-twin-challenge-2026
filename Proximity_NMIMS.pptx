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Heebo" charset="1" panose="00000500000000000000"/>
      <p:regular r:id="rId13"/>
    </p:embeddedFont>
    <p:embeddedFont>
      <p:font typeface="Heebo Bold" charset="1" panose="00000800000000000000"/>
      <p:regular r:id="rId14"/>
    </p:embeddedFont>
    <p:embeddedFont>
      <p:font typeface="Heebo Ultra-Bold" charset="1" panose="000009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png" Type="http://schemas.openxmlformats.org/officeDocument/2006/relationships/image"/><Relationship Id="rId16" Target="../media/image28.png" Type="http://schemas.openxmlformats.org/officeDocument/2006/relationships/image"/><Relationship Id="rId17" Target="../media/image29.png" Type="http://schemas.openxmlformats.org/officeDocument/2006/relationships/image"/><Relationship Id="rId18" Target="../media/image30.png" Type="http://schemas.openxmlformats.org/officeDocument/2006/relationships/image"/><Relationship Id="rId19" Target="../media/image31.png" Type="http://schemas.openxmlformats.org/officeDocument/2006/relationships/image"/><Relationship Id="rId2" Target="../media/image14.png" Type="http://schemas.openxmlformats.org/officeDocument/2006/relationships/image"/><Relationship Id="rId20" Target="../media/image32.png" Type="http://schemas.openxmlformats.org/officeDocument/2006/relationships/image"/><Relationship Id="rId21" Target="../media/image33.png" Type="http://schemas.openxmlformats.org/officeDocument/2006/relationships/image"/><Relationship Id="rId22" Target="../media/image3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12" Target="../media/image45.png" Type="http://schemas.openxmlformats.org/officeDocument/2006/relationships/image"/><Relationship Id="rId13" Target="../media/image46.png" Type="http://schemas.openxmlformats.org/officeDocument/2006/relationships/image"/><Relationship Id="rId14" Target="../media/image47.png" Type="http://schemas.openxmlformats.org/officeDocument/2006/relationships/image"/><Relationship Id="rId15" Target="../media/image48.png" Type="http://schemas.openxmlformats.org/officeDocument/2006/relationships/image"/><Relationship Id="rId16" Target="../media/image49.png" Type="http://schemas.openxmlformats.org/officeDocument/2006/relationships/image"/><Relationship Id="rId17" Target="../media/image50.png" Type="http://schemas.openxmlformats.org/officeDocument/2006/relationships/image"/><Relationship Id="rId18" Target="../media/image51.png" Type="http://schemas.openxmlformats.org/officeDocument/2006/relationships/image"/><Relationship Id="rId19" Target="../media/image52.png" Type="http://schemas.openxmlformats.org/officeDocument/2006/relationships/image"/><Relationship Id="rId2" Target="../media/image35.png" Type="http://schemas.openxmlformats.org/officeDocument/2006/relationships/image"/><Relationship Id="rId20" Target="../media/image53.png" Type="http://schemas.openxmlformats.org/officeDocument/2006/relationships/image"/><Relationship Id="rId21" Target="../media/image54.png" Type="http://schemas.openxmlformats.org/officeDocument/2006/relationships/image"/><Relationship Id="rId22" Target="../media/image55.png" Type="http://schemas.openxmlformats.org/officeDocument/2006/relationships/image"/><Relationship Id="rId23" Target="../media/image56.png" Type="http://schemas.openxmlformats.org/officeDocument/2006/relationships/image"/><Relationship Id="rId24" Target="../media/image57.png" Type="http://schemas.openxmlformats.org/officeDocument/2006/relationships/image"/><Relationship Id="rId25" Target="../media/image58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11" Target="../media/image68.png" Type="http://schemas.openxmlformats.org/officeDocument/2006/relationships/image"/><Relationship Id="rId12" Target="../media/image69.png" Type="http://schemas.openxmlformats.org/officeDocument/2006/relationships/image"/><Relationship Id="rId13" Target="../media/image70.png" Type="http://schemas.openxmlformats.org/officeDocument/2006/relationships/image"/><Relationship Id="rId14" Target="../media/image71.png" Type="http://schemas.openxmlformats.org/officeDocument/2006/relationships/image"/><Relationship Id="rId15" Target="../media/image72.png" Type="http://schemas.openxmlformats.org/officeDocument/2006/relationships/image"/><Relationship Id="rId16" Target="../media/image73.png" Type="http://schemas.openxmlformats.org/officeDocument/2006/relationships/image"/><Relationship Id="rId17" Target="../media/image74.png" Type="http://schemas.openxmlformats.org/officeDocument/2006/relationships/image"/><Relationship Id="rId18" Target="../media/image75.png" Type="http://schemas.openxmlformats.org/officeDocument/2006/relationships/image"/><Relationship Id="rId19" Target="../media/image76.png" Type="http://schemas.openxmlformats.org/officeDocument/2006/relationships/image"/><Relationship Id="rId2" Target="../media/image59.png" Type="http://schemas.openxmlformats.org/officeDocument/2006/relationships/image"/><Relationship Id="rId20" Target="../media/image77.png" Type="http://schemas.openxmlformats.org/officeDocument/2006/relationships/image"/><Relationship Id="rId21" Target="../media/image78.png" Type="http://schemas.openxmlformats.org/officeDocument/2006/relationships/image"/><Relationship Id="rId22" Target="../media/image79.png" Type="http://schemas.openxmlformats.org/officeDocument/2006/relationships/image"/><Relationship Id="rId23" Target="../media/image80.png" Type="http://schemas.openxmlformats.org/officeDocument/2006/relationships/image"/><Relationship Id="rId3" Target="../media/image60.png" Type="http://schemas.openxmlformats.org/officeDocument/2006/relationships/image"/><Relationship Id="rId4" Target="../media/image61.png" Type="http://schemas.openxmlformats.org/officeDocument/2006/relationships/image"/><Relationship Id="rId5" Target="../media/image62.png" Type="http://schemas.openxmlformats.org/officeDocument/2006/relationships/image"/><Relationship Id="rId6" Target="../media/image63.png" Type="http://schemas.openxmlformats.org/officeDocument/2006/relationships/image"/><Relationship Id="rId7" Target="../media/image64.png" Type="http://schemas.openxmlformats.org/officeDocument/2006/relationships/image"/><Relationship Id="rId8" Target="../media/image65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png" Type="http://schemas.openxmlformats.org/officeDocument/2006/relationships/image"/><Relationship Id="rId11" Target="../media/image90.png" Type="http://schemas.openxmlformats.org/officeDocument/2006/relationships/image"/><Relationship Id="rId12" Target="../media/image91.png" Type="http://schemas.openxmlformats.org/officeDocument/2006/relationships/image"/><Relationship Id="rId13" Target="../media/image92.png" Type="http://schemas.openxmlformats.org/officeDocument/2006/relationships/image"/><Relationship Id="rId14" Target="../media/image93.png" Type="http://schemas.openxmlformats.org/officeDocument/2006/relationships/image"/><Relationship Id="rId15" Target="../media/image94.png" Type="http://schemas.openxmlformats.org/officeDocument/2006/relationships/image"/><Relationship Id="rId16" Target="../media/image95.png" Type="http://schemas.openxmlformats.org/officeDocument/2006/relationships/image"/><Relationship Id="rId17" Target="../media/image96.png" Type="http://schemas.openxmlformats.org/officeDocument/2006/relationships/image"/><Relationship Id="rId18" Target="../media/image97.png" Type="http://schemas.openxmlformats.org/officeDocument/2006/relationships/image"/><Relationship Id="rId19" Target="../media/image98.png" Type="http://schemas.openxmlformats.org/officeDocument/2006/relationships/image"/><Relationship Id="rId2" Target="../media/image81.png" Type="http://schemas.openxmlformats.org/officeDocument/2006/relationships/image"/><Relationship Id="rId20" Target="../media/image99.png" Type="http://schemas.openxmlformats.org/officeDocument/2006/relationships/image"/><Relationship Id="rId21" Target="../media/image100.png" Type="http://schemas.openxmlformats.org/officeDocument/2006/relationships/image"/><Relationship Id="rId22" Target="../media/image101.png" Type="http://schemas.openxmlformats.org/officeDocument/2006/relationships/image"/><Relationship Id="rId23" Target="../media/image102.png" Type="http://schemas.openxmlformats.org/officeDocument/2006/relationships/image"/><Relationship Id="rId24" Target="../media/image103.png" Type="http://schemas.openxmlformats.org/officeDocument/2006/relationships/image"/><Relationship Id="rId25" Target="../media/image104.png" Type="http://schemas.openxmlformats.org/officeDocument/2006/relationships/image"/><Relationship Id="rId26" Target="../media/image105.png" Type="http://schemas.openxmlformats.org/officeDocument/2006/relationships/image"/><Relationship Id="rId3" Target="../media/image82.png" Type="http://schemas.openxmlformats.org/officeDocument/2006/relationships/image"/><Relationship Id="rId4" Target="../media/image83.png" Type="http://schemas.openxmlformats.org/officeDocument/2006/relationships/image"/><Relationship Id="rId5" Target="../media/image84.png" Type="http://schemas.openxmlformats.org/officeDocument/2006/relationships/image"/><Relationship Id="rId6" Target="../media/image85.png" Type="http://schemas.openxmlformats.org/officeDocument/2006/relationships/image"/><Relationship Id="rId7" Target="../media/image86.png" Type="http://schemas.openxmlformats.org/officeDocument/2006/relationships/image"/><Relationship Id="rId8" Target="../media/image87.pn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4.png" Type="http://schemas.openxmlformats.org/officeDocument/2006/relationships/image"/><Relationship Id="rId11" Target="../media/image115.png" Type="http://schemas.openxmlformats.org/officeDocument/2006/relationships/image"/><Relationship Id="rId12" Target="../media/image116.png" Type="http://schemas.openxmlformats.org/officeDocument/2006/relationships/image"/><Relationship Id="rId13" Target="../media/image117.png" Type="http://schemas.openxmlformats.org/officeDocument/2006/relationships/image"/><Relationship Id="rId14" Target="../media/image118.png" Type="http://schemas.openxmlformats.org/officeDocument/2006/relationships/image"/><Relationship Id="rId15" Target="../media/image119.png" Type="http://schemas.openxmlformats.org/officeDocument/2006/relationships/image"/><Relationship Id="rId16" Target="../media/image120.png" Type="http://schemas.openxmlformats.org/officeDocument/2006/relationships/image"/><Relationship Id="rId17" Target="../media/image121.png" Type="http://schemas.openxmlformats.org/officeDocument/2006/relationships/image"/><Relationship Id="rId2" Target="../media/image106.png" Type="http://schemas.openxmlformats.org/officeDocument/2006/relationships/image"/><Relationship Id="rId3" Target="../media/image107.png" Type="http://schemas.openxmlformats.org/officeDocument/2006/relationships/image"/><Relationship Id="rId4" Target="../media/image108.png" Type="http://schemas.openxmlformats.org/officeDocument/2006/relationships/image"/><Relationship Id="rId5" Target="../media/image109.png" Type="http://schemas.openxmlformats.org/officeDocument/2006/relationships/image"/><Relationship Id="rId6" Target="../media/image110.png" Type="http://schemas.openxmlformats.org/officeDocument/2006/relationships/image"/><Relationship Id="rId7" Target="../media/image111.png" Type="http://schemas.openxmlformats.org/officeDocument/2006/relationships/image"/><Relationship Id="rId8" Target="../media/image112.png" Type="http://schemas.openxmlformats.org/officeDocument/2006/relationships/image"/><Relationship Id="rId9" Target="../media/image1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5328" y="2142668"/>
            <a:ext cx="3062583" cy="437283"/>
            <a:chOff x="0" y="0"/>
            <a:chExt cx="4083444" cy="5830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83431" cy="583057"/>
            </a:xfrm>
            <a:custGeom>
              <a:avLst/>
              <a:gdLst/>
              <a:ahLst/>
              <a:cxnLst/>
              <a:rect r="r" b="b" t="t" l="l"/>
              <a:pathLst>
                <a:path h="583057" w="4083431">
                  <a:moveTo>
                    <a:pt x="0" y="0"/>
                  </a:moveTo>
                  <a:lnTo>
                    <a:pt x="4083431" y="0"/>
                  </a:lnTo>
                  <a:lnTo>
                    <a:pt x="4083431" y="583057"/>
                  </a:lnTo>
                  <a:lnTo>
                    <a:pt x="0" y="583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8598" y="3084109"/>
            <a:ext cx="3865283" cy="35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sz="3128" spc="-62">
                <a:solidFill>
                  <a:srgbClr val="FFFFFF">
                    <a:alpha val="89412"/>
                  </a:srgbClr>
                </a:solidFill>
                <a:latin typeface="Heebo"/>
                <a:ea typeface="Heebo"/>
                <a:cs typeface="Heebo"/>
                <a:sym typeface="Heebo"/>
              </a:rPr>
              <a:t>Between clinic visits, 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3540" y="3594764"/>
            <a:ext cx="4371042" cy="782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1"/>
              </a:lnSpc>
            </a:pPr>
            <a:r>
              <a:rPr lang="en-US" b="true" sz="6821" spc="-135">
                <a:solidFill>
                  <a:srgbClr val="14ADB6"/>
                </a:solidFill>
                <a:latin typeface="Heebo Bold"/>
                <a:ea typeface="Heebo Bold"/>
                <a:cs typeface="Heebo Bold"/>
                <a:sym typeface="Heebo Bold"/>
              </a:rPr>
              <a:t>90-day gap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4866" y="4472340"/>
            <a:ext cx="504646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spc="-59">
                <a:solidFill>
                  <a:srgbClr val="FFFFFF">
                    <a:alpha val="89412"/>
                  </a:srgbClr>
                </a:solidFill>
                <a:latin typeface="Heebo"/>
                <a:ea typeface="Heebo"/>
                <a:cs typeface="Heebo"/>
                <a:sym typeface="Heebo"/>
              </a:rPr>
              <a:t>we can’t see what is happening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0703" y="5847540"/>
            <a:ext cx="3654762" cy="269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2366" spc="-47">
                <a:solidFill>
                  <a:srgbClr val="FFFFFF">
                    <a:alpha val="89412"/>
                  </a:srgbClr>
                </a:solidFill>
                <a:latin typeface="Heebo"/>
                <a:ea typeface="Heebo"/>
                <a:cs typeface="Heebo"/>
                <a:sym typeface="Heebo"/>
              </a:rPr>
              <a:t>What’s happening right now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3408" y="6359604"/>
            <a:ext cx="3384299" cy="269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2366" spc="-47">
                <a:solidFill>
                  <a:srgbClr val="FFFFFF">
                    <a:alpha val="89412"/>
                  </a:srgbClr>
                </a:solidFill>
                <a:latin typeface="Heebo"/>
                <a:ea typeface="Heebo"/>
                <a:cs typeface="Heebo"/>
                <a:sym typeface="Heebo"/>
              </a:rPr>
              <a:t>What’s driving the change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6216" y="8600761"/>
            <a:ext cx="4103179" cy="426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8"/>
              </a:lnSpc>
            </a:pPr>
            <a:r>
              <a:rPr lang="en-US" b="true" sz="3758" spc="-74">
                <a:solidFill>
                  <a:srgbClr val="14ADB6"/>
                </a:solidFill>
                <a:latin typeface="Heebo Bold"/>
                <a:ea typeface="Heebo Bold"/>
                <a:cs typeface="Heebo Bold"/>
                <a:sym typeface="Heebo Bold"/>
              </a:rPr>
              <a:t>~101 million adults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4781" y="9367580"/>
            <a:ext cx="2246976" cy="223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898" spc="-38">
                <a:solidFill>
                  <a:srgbClr val="FFFFFF">
                    <a:alpha val="60000"/>
                  </a:srgbClr>
                </a:solidFill>
                <a:latin typeface="Heebo"/>
                <a:ea typeface="Heebo"/>
                <a:cs typeface="Heebo"/>
                <a:sym typeface="Heebo"/>
              </a:rPr>
              <a:t>Source: ICMR-INDIAB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622216" y="2995365"/>
            <a:ext cx="229695" cy="2372239"/>
            <a:chOff x="0" y="0"/>
            <a:chExt cx="306260" cy="31629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6197" cy="3162935"/>
            </a:xfrm>
            <a:custGeom>
              <a:avLst/>
              <a:gdLst/>
              <a:ahLst/>
              <a:cxnLst/>
              <a:rect r="r" b="b" t="t" l="l"/>
              <a:pathLst>
                <a:path h="3162935" w="306197">
                  <a:moveTo>
                    <a:pt x="0" y="0"/>
                  </a:moveTo>
                  <a:lnTo>
                    <a:pt x="306197" y="0"/>
                  </a:lnTo>
                  <a:lnTo>
                    <a:pt x="306197" y="3162935"/>
                  </a:lnTo>
                  <a:lnTo>
                    <a:pt x="0" y="3162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-20" b="-28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403465" y="3848062"/>
            <a:ext cx="2625071" cy="448208"/>
            <a:chOff x="0" y="0"/>
            <a:chExt cx="3500095" cy="5976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00120" cy="597662"/>
            </a:xfrm>
            <a:custGeom>
              <a:avLst/>
              <a:gdLst/>
              <a:ahLst/>
              <a:cxnLst/>
              <a:rect r="r" b="b" t="t" l="l"/>
              <a:pathLst>
                <a:path h="597662" w="3500120">
                  <a:moveTo>
                    <a:pt x="0" y="0"/>
                  </a:moveTo>
                  <a:lnTo>
                    <a:pt x="3500120" y="0"/>
                  </a:lnTo>
                  <a:lnTo>
                    <a:pt x="3500120" y="597662"/>
                  </a:lnTo>
                  <a:lnTo>
                    <a:pt x="0" y="597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" r="0" b="-16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993510" y="3499066"/>
            <a:ext cx="1468022" cy="34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1"/>
              </a:lnSpc>
            </a:pPr>
            <a:r>
              <a:rPr lang="en-US" b="true" sz="3341" spc="-66">
                <a:solidFill>
                  <a:srgbClr val="FFFFFF">
                    <a:alpha val="89412"/>
                  </a:srgbClr>
                </a:solidFill>
                <a:latin typeface="Heebo Bold"/>
                <a:ea typeface="Heebo Bold"/>
                <a:cs typeface="Heebo Bold"/>
                <a:sym typeface="Heebo Bold"/>
              </a:rPr>
              <a:t>90 days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70588" y="5376386"/>
            <a:ext cx="1046807" cy="616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sz="2424" spc="-47">
                <a:solidFill>
                  <a:srgbClr val="FFFFFF">
                    <a:alpha val="89412"/>
                  </a:srgbClr>
                </a:solidFill>
                <a:latin typeface="Heebo"/>
                <a:ea typeface="Heebo"/>
                <a:cs typeface="Heebo"/>
                <a:sym typeface="Heebo"/>
              </a:rPr>
              <a:t>Today’s</a:t>
            </a:r>
          </a:p>
          <a:p>
            <a:pPr algn="ctr">
              <a:lnSpc>
                <a:spcPts val="2666"/>
              </a:lnSpc>
            </a:pPr>
            <a:r>
              <a:rPr lang="en-US" sz="2424" spc="-47">
                <a:solidFill>
                  <a:srgbClr val="FFFFFF">
                    <a:alpha val="89412"/>
                  </a:srgbClr>
                </a:solidFill>
                <a:latin typeface="Heebo"/>
                <a:ea typeface="Heebo"/>
                <a:cs typeface="Heebo"/>
                <a:sym typeface="Heebo"/>
              </a:rPr>
              <a:t>visit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580089" y="2995365"/>
            <a:ext cx="448447" cy="2372239"/>
            <a:chOff x="0" y="0"/>
            <a:chExt cx="597929" cy="31629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7916" cy="3162935"/>
            </a:xfrm>
            <a:custGeom>
              <a:avLst/>
              <a:gdLst/>
              <a:ahLst/>
              <a:cxnLst/>
              <a:rect r="r" b="b" t="t" l="l"/>
              <a:pathLst>
                <a:path h="3162935" w="597916">
                  <a:moveTo>
                    <a:pt x="0" y="0"/>
                  </a:moveTo>
                  <a:lnTo>
                    <a:pt x="597916" y="0"/>
                  </a:lnTo>
                  <a:lnTo>
                    <a:pt x="597916" y="3162935"/>
                  </a:lnTo>
                  <a:lnTo>
                    <a:pt x="0" y="3162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" r="-2" b="-28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512347" y="5376386"/>
            <a:ext cx="625440" cy="616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sz="2424" spc="-47">
                <a:solidFill>
                  <a:srgbClr val="FFFFFF">
                    <a:alpha val="89412"/>
                  </a:srgbClr>
                </a:solidFill>
                <a:latin typeface="Heebo"/>
                <a:ea typeface="Heebo"/>
                <a:cs typeface="Heebo"/>
                <a:sym typeface="Heebo"/>
              </a:rPr>
              <a:t>Next</a:t>
            </a:r>
          </a:p>
          <a:p>
            <a:pPr algn="ctr">
              <a:lnSpc>
                <a:spcPts val="2666"/>
              </a:lnSpc>
            </a:pPr>
            <a:r>
              <a:rPr lang="en-US" sz="2424" spc="-47">
                <a:solidFill>
                  <a:srgbClr val="FFFFFF">
                    <a:alpha val="89412"/>
                  </a:srgbClr>
                </a:solidFill>
                <a:latin typeface="Heebo"/>
                <a:ea typeface="Heebo"/>
                <a:cs typeface="Heebo"/>
                <a:sym typeface="Heebo"/>
              </a:rPr>
              <a:t>visit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6092" y="5350535"/>
            <a:ext cx="4115695" cy="269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b="true" sz="2366" spc="-47">
                <a:solidFill>
                  <a:srgbClr val="14ADB6"/>
                </a:solidFill>
                <a:latin typeface="Heebo Bold"/>
                <a:ea typeface="Heebo Bold"/>
                <a:cs typeface="Heebo Bold"/>
                <a:sym typeface="Heebo Bold"/>
              </a:rPr>
              <a:t>Three critical information gaps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3712" y="8151847"/>
            <a:ext cx="3353762" cy="269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2366" spc="-47">
                <a:solidFill>
                  <a:srgbClr val="FFFFFF">
                    <a:alpha val="89412"/>
                  </a:srgbClr>
                </a:solidFill>
                <a:latin typeface="Heebo"/>
                <a:ea typeface="Heebo"/>
                <a:cs typeface="Heebo"/>
                <a:sym typeface="Heebo"/>
              </a:rPr>
              <a:t>India diabetes prevalence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8389" y="6856619"/>
            <a:ext cx="2886161" cy="269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2366" spc="-47">
                <a:solidFill>
                  <a:srgbClr val="FFFFFF">
                    <a:alpha val="89412"/>
                  </a:srgbClr>
                </a:solidFill>
                <a:latin typeface="Heebo"/>
                <a:ea typeface="Heebo"/>
                <a:cs typeface="Heebo"/>
                <a:sym typeface="Heebo"/>
              </a:rPr>
              <a:t>What will happen next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4007" y="1098095"/>
            <a:ext cx="6966447" cy="99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109" b="true">
                <a:solidFill>
                  <a:srgbClr val="F8F8F8"/>
                </a:solidFill>
                <a:latin typeface="Heebo Ultra-Bold"/>
                <a:ea typeface="Heebo Ultra-Bold"/>
                <a:cs typeface="Heebo Ultra-Bold"/>
                <a:sym typeface="Heebo Ultra-Bold"/>
              </a:rPr>
              <a:t>Twin-Pulse</a:t>
            </a:r>
          </a:p>
          <a:p>
            <a:pPr algn="l">
              <a:lnSpc>
                <a:spcPts val="2499"/>
              </a:lnSpc>
            </a:pPr>
            <a:r>
              <a:rPr lang="en-US" sz="2499" spc="-50" b="true">
                <a:solidFill>
                  <a:srgbClr val="F8F8F8"/>
                </a:solidFill>
                <a:latin typeface="Heebo Ultra-Bold"/>
                <a:ea typeface="Heebo Ultra-Bold"/>
                <a:cs typeface="Heebo Ultra-Bold"/>
                <a:sym typeface="Heebo Ultra-Bold"/>
              </a:rPr>
              <a:t>Cardiometabolic Digital Twin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8133397"/>
            <a:ext cx="18288000" cy="2153602"/>
            <a:chOff x="0" y="0"/>
            <a:chExt cx="24384000" cy="28714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871470"/>
            </a:xfrm>
            <a:custGeom>
              <a:avLst/>
              <a:gdLst/>
              <a:ahLst/>
              <a:cxnLst/>
              <a:rect r="r" b="b" t="t" l="l"/>
              <a:pathLst>
                <a:path h="287147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871470"/>
                  </a:lnTo>
                  <a:lnTo>
                    <a:pt x="0" y="2871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6159" y="1410910"/>
            <a:ext cx="9467021" cy="100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6"/>
              </a:lnSpc>
            </a:pPr>
            <a:r>
              <a:rPr lang="en-US" b="true" sz="8736" spc="-348">
                <a:solidFill>
                  <a:srgbClr val="FAFAFA"/>
                </a:solidFill>
                <a:latin typeface="Heebo Bold"/>
                <a:ea typeface="Heebo Bold"/>
                <a:cs typeface="Heebo Bold"/>
                <a:sym typeface="Heebo Bold"/>
              </a:rPr>
              <a:t>Objectives and need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64089" y="2350379"/>
            <a:ext cx="2187559" cy="437283"/>
            <a:chOff x="0" y="0"/>
            <a:chExt cx="2916746" cy="5830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16809" cy="583057"/>
            </a:xfrm>
            <a:custGeom>
              <a:avLst/>
              <a:gdLst/>
              <a:ahLst/>
              <a:cxnLst/>
              <a:rect r="r" b="b" t="t" l="l"/>
              <a:pathLst>
                <a:path h="583057" w="2916809">
                  <a:moveTo>
                    <a:pt x="0" y="0"/>
                  </a:moveTo>
                  <a:lnTo>
                    <a:pt x="2916809" y="0"/>
                  </a:lnTo>
                  <a:lnTo>
                    <a:pt x="2916809" y="583057"/>
                  </a:lnTo>
                  <a:lnTo>
                    <a:pt x="0" y="583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2" b="-2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64089" y="3421713"/>
            <a:ext cx="5020447" cy="4941256"/>
            <a:chOff x="0" y="0"/>
            <a:chExt cx="6693929" cy="658834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693929" cy="6588341"/>
              <a:chOff x="0" y="0"/>
              <a:chExt cx="6693929" cy="658834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693916" cy="6588379"/>
              </a:xfrm>
              <a:custGeom>
                <a:avLst/>
                <a:gdLst/>
                <a:ahLst/>
                <a:cxnLst/>
                <a:rect r="r" b="b" t="t" l="l"/>
                <a:pathLst>
                  <a:path h="6588379" w="6693916">
                    <a:moveTo>
                      <a:pt x="0" y="0"/>
                    </a:moveTo>
                    <a:lnTo>
                      <a:pt x="6693916" y="0"/>
                    </a:lnTo>
                    <a:lnTo>
                      <a:pt x="6693916" y="6588379"/>
                    </a:lnTo>
                    <a:lnTo>
                      <a:pt x="0" y="65883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-26" r="0" b="-26"/>
                </a:stretch>
              </a:blip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546532" y="858761"/>
              <a:ext cx="1584909" cy="1245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34"/>
                </a:lnSpc>
              </a:pPr>
              <a:r>
                <a:rPr lang="en-US" b="true" sz="7934" spc="-76">
                  <a:solidFill>
                    <a:srgbClr val="1DB6B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01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550786" y="2266798"/>
              <a:ext cx="4731588" cy="6171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8"/>
                </a:lnSpc>
              </a:pPr>
              <a:r>
                <a:rPr lang="en-US" b="true" sz="3041" spc="-29">
                  <a:solidFill>
                    <a:srgbClr val="FAFAFA">
                      <a:alpha val="89412"/>
                    </a:srgbClr>
                  </a:solidFill>
                  <a:latin typeface="Heebo Bold"/>
                  <a:ea typeface="Heebo Bold"/>
                  <a:cs typeface="Heebo Bold"/>
                  <a:sym typeface="Heebo Bold"/>
                </a:rPr>
                <a:t>Predict a spike early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44525" y="3521189"/>
              <a:ext cx="5357063" cy="17969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85"/>
                </a:lnSpc>
              </a:pPr>
              <a:r>
                <a:rPr lang="en-US" sz="2390" spc="-23">
                  <a:solidFill>
                    <a:srgbClr val="FAFAFA">
                      <a:alpha val="89412"/>
                    </a:srgbClr>
                  </a:solidFill>
                  <a:latin typeface="Heebo"/>
                  <a:ea typeface="Heebo"/>
                  <a:cs typeface="Heebo"/>
                  <a:sym typeface="Heebo"/>
                </a:rPr>
                <a:t>Detect deterioration sooner to give time for interventions that can change the outcome.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654840" y="3421713"/>
            <a:ext cx="5884535" cy="4941256"/>
            <a:chOff x="0" y="0"/>
            <a:chExt cx="7846047" cy="658834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2288426"/>
              <a:ext cx="1472959" cy="306095"/>
              <a:chOff x="0" y="0"/>
              <a:chExt cx="1472959" cy="30609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472946" cy="306070"/>
              </a:xfrm>
              <a:custGeom>
                <a:avLst/>
                <a:gdLst/>
                <a:ahLst/>
                <a:cxnLst/>
                <a:rect r="r" b="b" t="t" l="l"/>
                <a:pathLst>
                  <a:path h="306070" w="1472946">
                    <a:moveTo>
                      <a:pt x="0" y="0"/>
                    </a:moveTo>
                    <a:lnTo>
                      <a:pt x="1472946" y="0"/>
                    </a:lnTo>
                    <a:lnTo>
                      <a:pt x="1472946" y="306070"/>
                    </a:lnTo>
                    <a:lnTo>
                      <a:pt x="0" y="30607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-24" r="0" b="-37"/>
                </a:stretch>
              </a:blip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1166698" y="0"/>
              <a:ext cx="6679349" cy="6588341"/>
              <a:chOff x="0" y="0"/>
              <a:chExt cx="6679349" cy="658834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679311" cy="6588379"/>
              </a:xfrm>
              <a:custGeom>
                <a:avLst/>
                <a:gdLst/>
                <a:ahLst/>
                <a:cxnLst/>
                <a:rect r="r" b="b" t="t" l="l"/>
                <a:pathLst>
                  <a:path h="6588379" w="6679311">
                    <a:moveTo>
                      <a:pt x="0" y="0"/>
                    </a:moveTo>
                    <a:lnTo>
                      <a:pt x="6679311" y="0"/>
                    </a:lnTo>
                    <a:lnTo>
                      <a:pt x="6679311" y="6588379"/>
                    </a:lnTo>
                    <a:lnTo>
                      <a:pt x="0" y="65883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-26" r="0" b="-26"/>
                </a:stretch>
              </a:blip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1909839" y="858761"/>
              <a:ext cx="1584909" cy="1245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34"/>
                </a:lnSpc>
              </a:pPr>
              <a:r>
                <a:rPr lang="en-US" b="true" sz="7934" spc="-76">
                  <a:solidFill>
                    <a:srgbClr val="1DB6B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02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873656" y="2289023"/>
              <a:ext cx="5203203" cy="1237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58"/>
                </a:lnSpc>
              </a:pPr>
              <a:r>
                <a:rPr lang="en-US" b="true" sz="3132" spc="-29">
                  <a:solidFill>
                    <a:srgbClr val="FAFAFA">
                      <a:alpha val="89412"/>
                    </a:srgbClr>
                  </a:solidFill>
                  <a:latin typeface="Heebo Bold"/>
                  <a:ea typeface="Heebo Bold"/>
                  <a:cs typeface="Heebo Bold"/>
                  <a:sym typeface="Heebo Bold"/>
                </a:rPr>
                <a:t>Show the whole-body picture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876311" y="4020604"/>
              <a:ext cx="4937531" cy="1817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27"/>
                </a:lnSpc>
              </a:pPr>
              <a:r>
                <a:rPr lang="en-US" sz="2418" spc="-22">
                  <a:solidFill>
                    <a:srgbClr val="FAFAFA">
                      <a:alpha val="89412"/>
                    </a:srgbClr>
                  </a:solidFill>
                  <a:latin typeface="Heebo"/>
                  <a:ea typeface="Heebo"/>
                  <a:cs typeface="Heebo"/>
                  <a:sym typeface="Heebo"/>
                </a:rPr>
                <a:t>Integrate vital systems and trends to reveal what's</a:t>
              </a:r>
            </a:p>
            <a:p>
              <a:pPr algn="l">
                <a:lnSpc>
                  <a:spcPts val="3627"/>
                </a:lnSpc>
              </a:pPr>
              <a:r>
                <a:rPr lang="en-US" sz="2418" spc="-22">
                  <a:solidFill>
                    <a:srgbClr val="FAFAFA">
                      <a:alpha val="89412"/>
                    </a:srgbClr>
                  </a:solidFill>
                  <a:latin typeface="Heebo"/>
                  <a:ea typeface="Heebo"/>
                  <a:cs typeface="Heebo"/>
                  <a:sym typeface="Heebo"/>
                </a:rPr>
                <a:t>driving the risk.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320624" y="3421713"/>
            <a:ext cx="6103287" cy="4941256"/>
            <a:chOff x="0" y="0"/>
            <a:chExt cx="8137716" cy="6588341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2288426"/>
              <a:ext cx="1750047" cy="306095"/>
              <a:chOff x="0" y="0"/>
              <a:chExt cx="1750047" cy="30609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750060" cy="306070"/>
              </a:xfrm>
              <a:custGeom>
                <a:avLst/>
                <a:gdLst/>
                <a:ahLst/>
                <a:cxnLst/>
                <a:rect r="r" b="b" t="t" l="l"/>
                <a:pathLst>
                  <a:path h="306070" w="1750060">
                    <a:moveTo>
                      <a:pt x="0" y="0"/>
                    </a:moveTo>
                    <a:lnTo>
                      <a:pt x="1750060" y="0"/>
                    </a:lnTo>
                    <a:lnTo>
                      <a:pt x="1750060" y="306070"/>
                    </a:lnTo>
                    <a:lnTo>
                      <a:pt x="0" y="30607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-24" r="0" b="-37"/>
                </a:stretch>
              </a:blip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1443787" y="0"/>
              <a:ext cx="6693929" cy="6588341"/>
              <a:chOff x="0" y="0"/>
              <a:chExt cx="6693929" cy="658834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693916" cy="6588379"/>
              </a:xfrm>
              <a:custGeom>
                <a:avLst/>
                <a:gdLst/>
                <a:ahLst/>
                <a:cxnLst/>
                <a:rect r="r" b="b" t="t" l="l"/>
                <a:pathLst>
                  <a:path h="6588379" w="6693916">
                    <a:moveTo>
                      <a:pt x="0" y="0"/>
                    </a:moveTo>
                    <a:lnTo>
                      <a:pt x="6693916" y="0"/>
                    </a:lnTo>
                    <a:lnTo>
                      <a:pt x="6693916" y="6588379"/>
                    </a:lnTo>
                    <a:lnTo>
                      <a:pt x="0" y="658837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-26" r="0" b="-26"/>
                </a:stretch>
              </a:blip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2142147" y="858761"/>
              <a:ext cx="1584909" cy="12457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34"/>
                </a:lnSpc>
              </a:pPr>
              <a:r>
                <a:rPr lang="en-US" b="true" sz="7934" spc="-76">
                  <a:solidFill>
                    <a:srgbClr val="1DB6BD"/>
                  </a:solidFill>
                  <a:latin typeface="Heebo Bold"/>
                  <a:ea typeface="Heebo Bold"/>
                  <a:cs typeface="Heebo Bold"/>
                  <a:sym typeface="Heebo Bold"/>
                </a:rPr>
                <a:t>03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2113750" y="2289023"/>
              <a:ext cx="4423512" cy="12374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58"/>
                </a:lnSpc>
              </a:pPr>
              <a:r>
                <a:rPr lang="en-US" b="true" sz="3132" spc="-29">
                  <a:solidFill>
                    <a:srgbClr val="FAFAFA">
                      <a:alpha val="89412"/>
                    </a:srgbClr>
                  </a:solidFill>
                  <a:latin typeface="Heebo Bold"/>
                  <a:ea typeface="Heebo Bold"/>
                  <a:cs typeface="Heebo Bold"/>
                  <a:sym typeface="Heebo Bold"/>
                </a:rPr>
                <a:t>Let the doctor test actions safely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105508" y="4020604"/>
              <a:ext cx="5247805" cy="1817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27"/>
                </a:lnSpc>
              </a:pPr>
              <a:r>
                <a:rPr lang="en-US" sz="2418" spc="-22">
                  <a:solidFill>
                    <a:srgbClr val="FAFAFA">
                      <a:alpha val="89412"/>
                    </a:srgbClr>
                  </a:solidFill>
                  <a:latin typeface="Heebo"/>
                  <a:ea typeface="Heebo"/>
                  <a:cs typeface="Heebo"/>
                  <a:sym typeface="Heebo"/>
                </a:rPr>
                <a:t>Explore possible actions and see likely impact before deciding at the bedside.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8570681"/>
            <a:ext cx="18288000" cy="1716319"/>
            <a:chOff x="0" y="0"/>
            <a:chExt cx="24384000" cy="22884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288413"/>
            </a:xfrm>
            <a:custGeom>
              <a:avLst/>
              <a:gdLst/>
              <a:ahLst/>
              <a:cxnLst/>
              <a:rect r="r" b="b" t="t" l="l"/>
              <a:pathLst>
                <a:path h="228841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8413"/>
                  </a:lnTo>
                  <a:lnTo>
                    <a:pt x="0" y="2288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53784" y="960225"/>
            <a:ext cx="11594259" cy="96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2"/>
              </a:lnSpc>
            </a:pPr>
            <a:r>
              <a:rPr lang="en-US" b="true" sz="8492" spc="-422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Research and alternatives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45328" y="1924031"/>
            <a:ext cx="2406320" cy="437283"/>
            <a:chOff x="0" y="0"/>
            <a:chExt cx="3208426" cy="5830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08401" cy="583057"/>
            </a:xfrm>
            <a:custGeom>
              <a:avLst/>
              <a:gdLst/>
              <a:ahLst/>
              <a:cxnLst/>
              <a:rect r="r" b="b" t="t" l="l"/>
              <a:pathLst>
                <a:path h="583057" w="3208401">
                  <a:moveTo>
                    <a:pt x="0" y="0"/>
                  </a:moveTo>
                  <a:lnTo>
                    <a:pt x="3208401" y="0"/>
                  </a:lnTo>
                  <a:lnTo>
                    <a:pt x="3208401" y="583057"/>
                  </a:lnTo>
                  <a:lnTo>
                    <a:pt x="0" y="583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0" b="-2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70293" y="2780995"/>
            <a:ext cx="5300948" cy="139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b="true" sz="2916" spc="-85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Twin-Pulse conceptually covers the full spectrum of what matters at the bedside.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21178" y="2921479"/>
            <a:ext cx="1100738" cy="76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7"/>
              </a:lnSpc>
            </a:pPr>
            <a:r>
              <a:rPr lang="en-US" b="true" sz="2934" spc="-86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Clinic</a:t>
            </a:r>
          </a:p>
          <a:p>
            <a:pPr algn="ctr">
              <a:lnSpc>
                <a:spcPts val="3227"/>
              </a:lnSpc>
            </a:pPr>
            <a:r>
              <a:rPr lang="en-US" b="true" sz="2934" spc="-86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HbA1c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18472" y="2921479"/>
            <a:ext cx="808625" cy="76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7"/>
              </a:lnSpc>
            </a:pPr>
            <a:r>
              <a:rPr lang="en-US" b="true" sz="2934" spc="-86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CGM</a:t>
            </a:r>
          </a:p>
          <a:p>
            <a:pPr algn="ctr">
              <a:lnSpc>
                <a:spcPts val="3227"/>
              </a:lnSpc>
            </a:pPr>
            <a:r>
              <a:rPr lang="en-US" b="true" sz="2934" spc="-86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app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48983" y="2921479"/>
            <a:ext cx="898303" cy="76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7"/>
              </a:lnSpc>
            </a:pPr>
            <a:r>
              <a:rPr lang="en-US" b="true" sz="2934" spc="-86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Risk</a:t>
            </a:r>
          </a:p>
          <a:p>
            <a:pPr algn="ctr">
              <a:lnSpc>
                <a:spcPts val="3227"/>
              </a:lnSpc>
            </a:pPr>
            <a:r>
              <a:rPr lang="en-US" b="true" sz="2934" spc="-86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score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34974" y="2921479"/>
            <a:ext cx="1620222" cy="76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7"/>
              </a:lnSpc>
            </a:pPr>
            <a:r>
              <a:rPr lang="en-US" b="true" sz="2934" spc="-86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Black-box ML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20502" y="3037027"/>
            <a:ext cx="1814170" cy="46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2"/>
              </a:lnSpc>
            </a:pPr>
            <a:r>
              <a:rPr lang="en-US" b="true" sz="2916" spc="-85">
                <a:solidFill>
                  <a:srgbClr val="17B0B9"/>
                </a:solidFill>
                <a:latin typeface="Heebo Bold"/>
                <a:ea typeface="Heebo Bold"/>
                <a:cs typeface="Heebo Bold"/>
                <a:sym typeface="Heebo Bold"/>
              </a:rPr>
              <a:t>Twin-Pulse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56441" y="3848062"/>
            <a:ext cx="229695" cy="4514907"/>
            <a:chOff x="0" y="0"/>
            <a:chExt cx="306260" cy="60198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6197" cy="6019927"/>
            </a:xfrm>
            <a:custGeom>
              <a:avLst/>
              <a:gdLst/>
              <a:ahLst/>
              <a:cxnLst/>
              <a:rect r="r" b="b" t="t" l="l"/>
              <a:pathLst>
                <a:path h="6019927" w="306197">
                  <a:moveTo>
                    <a:pt x="0" y="0"/>
                  </a:moveTo>
                  <a:lnTo>
                    <a:pt x="306197" y="0"/>
                  </a:lnTo>
                  <a:lnTo>
                    <a:pt x="306197" y="6019927"/>
                  </a:lnTo>
                  <a:lnTo>
                    <a:pt x="0" y="6019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" r="-20" b="-2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956441" y="3848062"/>
            <a:ext cx="2187559" cy="229572"/>
            <a:chOff x="0" y="0"/>
            <a:chExt cx="2916746" cy="3060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16809" cy="306070"/>
            </a:xfrm>
            <a:custGeom>
              <a:avLst/>
              <a:gdLst/>
              <a:ahLst/>
              <a:cxnLst/>
              <a:rect r="r" b="b" t="t" l="l"/>
              <a:pathLst>
                <a:path h="306070" w="2916809">
                  <a:moveTo>
                    <a:pt x="0" y="0"/>
                  </a:moveTo>
                  <a:lnTo>
                    <a:pt x="2916809" y="0"/>
                  </a:lnTo>
                  <a:lnTo>
                    <a:pt x="2916809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4" r="2" b="-37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0" y="3848062"/>
            <a:ext cx="1968808" cy="229572"/>
            <a:chOff x="0" y="0"/>
            <a:chExt cx="2625077" cy="3060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25090" cy="306070"/>
            </a:xfrm>
            <a:custGeom>
              <a:avLst/>
              <a:gdLst/>
              <a:ahLst/>
              <a:cxnLst/>
              <a:rect r="r" b="b" t="t" l="l"/>
              <a:pathLst>
                <a:path h="306070" w="2625090">
                  <a:moveTo>
                    <a:pt x="0" y="0"/>
                  </a:moveTo>
                  <a:lnTo>
                    <a:pt x="2625090" y="0"/>
                  </a:lnTo>
                  <a:lnTo>
                    <a:pt x="2625090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4" r="0" b="-37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101864" y="3848062"/>
            <a:ext cx="2187559" cy="229572"/>
            <a:chOff x="0" y="0"/>
            <a:chExt cx="2916746" cy="3060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16809" cy="306070"/>
            </a:xfrm>
            <a:custGeom>
              <a:avLst/>
              <a:gdLst/>
              <a:ahLst/>
              <a:cxnLst/>
              <a:rect r="r" b="b" t="t" l="l"/>
              <a:pathLst>
                <a:path h="306070" w="2916809">
                  <a:moveTo>
                    <a:pt x="0" y="0"/>
                  </a:moveTo>
                  <a:lnTo>
                    <a:pt x="2916809" y="0"/>
                  </a:lnTo>
                  <a:lnTo>
                    <a:pt x="2916809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4" r="2" b="-3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059727" y="3848062"/>
            <a:ext cx="2406320" cy="229572"/>
            <a:chOff x="0" y="0"/>
            <a:chExt cx="3208426" cy="3060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08401" cy="306070"/>
            </a:xfrm>
            <a:custGeom>
              <a:avLst/>
              <a:gdLst/>
              <a:ahLst/>
              <a:cxnLst/>
              <a:rect r="r" b="b" t="t" l="l"/>
              <a:pathLst>
                <a:path h="306070" w="3208401">
                  <a:moveTo>
                    <a:pt x="0" y="0"/>
                  </a:moveTo>
                  <a:lnTo>
                    <a:pt x="3208401" y="0"/>
                  </a:lnTo>
                  <a:lnTo>
                    <a:pt x="3208401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4" r="0" b="-37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236352" y="3848062"/>
            <a:ext cx="2406320" cy="229572"/>
            <a:chOff x="0" y="0"/>
            <a:chExt cx="3208426" cy="30609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08401" cy="306070"/>
            </a:xfrm>
            <a:custGeom>
              <a:avLst/>
              <a:gdLst/>
              <a:ahLst/>
              <a:cxnLst/>
              <a:rect r="r" b="b" t="t" l="l"/>
              <a:pathLst>
                <a:path h="306070" w="3208401">
                  <a:moveTo>
                    <a:pt x="0" y="0"/>
                  </a:moveTo>
                  <a:lnTo>
                    <a:pt x="3208401" y="0"/>
                  </a:lnTo>
                  <a:lnTo>
                    <a:pt x="3208401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4" r="0" b="-37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51557" y="4753956"/>
            <a:ext cx="3963962" cy="46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b="true" sz="2916" spc="-85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Early deterioration signal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1262" y="5461816"/>
            <a:ext cx="3993175" cy="46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b="true" sz="2916" spc="-85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Whole-body system view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0521" y="6169676"/>
            <a:ext cx="2067744" cy="46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b="true" sz="2916" spc="-85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Explains why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9234" y="6877536"/>
            <a:ext cx="3196238" cy="46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b="true" sz="2916" spc="-85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Tests actions safely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9472" y="7570337"/>
            <a:ext cx="3172758" cy="46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b="true" sz="2916" spc="-85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Shows likely impact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64089" y="5138033"/>
            <a:ext cx="16778583" cy="229572"/>
            <a:chOff x="0" y="0"/>
            <a:chExt cx="22371444" cy="3060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371431" cy="306070"/>
            </a:xfrm>
            <a:custGeom>
              <a:avLst/>
              <a:gdLst/>
              <a:ahLst/>
              <a:cxnLst/>
              <a:rect r="r" b="b" t="t" l="l"/>
              <a:pathLst>
                <a:path h="306070" w="22371431">
                  <a:moveTo>
                    <a:pt x="0" y="0"/>
                  </a:moveTo>
                  <a:lnTo>
                    <a:pt x="22371431" y="0"/>
                  </a:lnTo>
                  <a:lnTo>
                    <a:pt x="22371431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4" r="0" b="-37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64089" y="5990730"/>
            <a:ext cx="16778583" cy="229572"/>
            <a:chOff x="0" y="0"/>
            <a:chExt cx="22371444" cy="30609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371431" cy="306070"/>
            </a:xfrm>
            <a:custGeom>
              <a:avLst/>
              <a:gdLst/>
              <a:ahLst/>
              <a:cxnLst/>
              <a:rect r="r" b="b" t="t" l="l"/>
              <a:pathLst>
                <a:path h="306070" w="22371431">
                  <a:moveTo>
                    <a:pt x="0" y="0"/>
                  </a:moveTo>
                  <a:lnTo>
                    <a:pt x="22371431" y="0"/>
                  </a:lnTo>
                  <a:lnTo>
                    <a:pt x="22371431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4" r="0" b="-37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64089" y="6635715"/>
            <a:ext cx="16778583" cy="229572"/>
            <a:chOff x="0" y="0"/>
            <a:chExt cx="22371444" cy="30609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371431" cy="306070"/>
            </a:xfrm>
            <a:custGeom>
              <a:avLst/>
              <a:gdLst/>
              <a:ahLst/>
              <a:cxnLst/>
              <a:rect r="r" b="b" t="t" l="l"/>
              <a:pathLst>
                <a:path h="306070" w="22371431">
                  <a:moveTo>
                    <a:pt x="0" y="0"/>
                  </a:moveTo>
                  <a:lnTo>
                    <a:pt x="22371431" y="0"/>
                  </a:lnTo>
                  <a:lnTo>
                    <a:pt x="22371431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24" r="0" b="-37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64089" y="7280700"/>
            <a:ext cx="16778583" cy="229572"/>
            <a:chOff x="0" y="0"/>
            <a:chExt cx="22371444" cy="30609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371431" cy="306070"/>
            </a:xfrm>
            <a:custGeom>
              <a:avLst/>
              <a:gdLst/>
              <a:ahLst/>
              <a:cxnLst/>
              <a:rect r="r" b="b" t="t" l="l"/>
              <a:pathLst>
                <a:path h="306070" w="22371431">
                  <a:moveTo>
                    <a:pt x="0" y="0"/>
                  </a:moveTo>
                  <a:lnTo>
                    <a:pt x="22371431" y="0"/>
                  </a:lnTo>
                  <a:lnTo>
                    <a:pt x="22371431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24" r="0" b="-37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789328" y="4493047"/>
            <a:ext cx="667207" cy="655920"/>
            <a:chOff x="0" y="0"/>
            <a:chExt cx="889610" cy="8745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89635" cy="874522"/>
            </a:xfrm>
            <a:custGeom>
              <a:avLst/>
              <a:gdLst/>
              <a:ahLst/>
              <a:cxnLst/>
              <a:rect r="r" b="b" t="t" l="l"/>
              <a:pathLst>
                <a:path h="874522" w="889635">
                  <a:moveTo>
                    <a:pt x="0" y="0"/>
                  </a:moveTo>
                  <a:lnTo>
                    <a:pt x="889635" y="0"/>
                  </a:lnTo>
                  <a:lnTo>
                    <a:pt x="889635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6" r="2" b="-31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747192" y="4493047"/>
            <a:ext cx="667207" cy="655920"/>
            <a:chOff x="0" y="0"/>
            <a:chExt cx="889610" cy="8745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89635" cy="874522"/>
            </a:xfrm>
            <a:custGeom>
              <a:avLst/>
              <a:gdLst/>
              <a:ahLst/>
              <a:cxnLst/>
              <a:rect r="r" b="b" t="t" l="l"/>
              <a:pathLst>
                <a:path h="874522" w="889635">
                  <a:moveTo>
                    <a:pt x="0" y="0"/>
                  </a:moveTo>
                  <a:lnTo>
                    <a:pt x="889635" y="0"/>
                  </a:lnTo>
                  <a:lnTo>
                    <a:pt x="889635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26" r="2" b="-31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923816" y="4493047"/>
            <a:ext cx="667207" cy="655920"/>
            <a:chOff x="0" y="0"/>
            <a:chExt cx="889610" cy="8745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89635" cy="874522"/>
            </a:xfrm>
            <a:custGeom>
              <a:avLst/>
              <a:gdLst/>
              <a:ahLst/>
              <a:cxnLst/>
              <a:rect r="r" b="b" t="t" l="l"/>
              <a:pathLst>
                <a:path h="874522" w="889635">
                  <a:moveTo>
                    <a:pt x="0" y="0"/>
                  </a:moveTo>
                  <a:lnTo>
                    <a:pt x="889635" y="0"/>
                  </a:lnTo>
                  <a:lnTo>
                    <a:pt x="889635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26" r="2" b="-31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6100441" y="4493047"/>
            <a:ext cx="667207" cy="3651285"/>
            <a:chOff x="0" y="0"/>
            <a:chExt cx="889610" cy="486838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889610" cy="874560"/>
              <a:chOff x="0" y="0"/>
              <a:chExt cx="889610" cy="87456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89635" cy="874522"/>
              </a:xfrm>
              <a:custGeom>
                <a:avLst/>
                <a:gdLst/>
                <a:ahLst/>
                <a:cxnLst/>
                <a:rect r="r" b="b" t="t" l="l"/>
                <a:pathLst>
                  <a:path h="874522" w="889635">
                    <a:moveTo>
                      <a:pt x="0" y="0"/>
                    </a:moveTo>
                    <a:lnTo>
                      <a:pt x="889635" y="0"/>
                    </a:lnTo>
                    <a:lnTo>
                      <a:pt x="889635" y="874522"/>
                    </a:lnTo>
                    <a:lnTo>
                      <a:pt x="0" y="87452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8"/>
                <a:stretch>
                  <a:fillRect l="0" t="-26" r="2" b="-31"/>
                </a:stretch>
              </a:blip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1151496"/>
              <a:ext cx="889610" cy="859980"/>
              <a:chOff x="0" y="0"/>
              <a:chExt cx="889610" cy="85998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89635" cy="860044"/>
              </a:xfrm>
              <a:custGeom>
                <a:avLst/>
                <a:gdLst/>
                <a:ahLst/>
                <a:cxnLst/>
                <a:rect r="r" b="b" t="t" l="l"/>
                <a:pathLst>
                  <a:path h="860044" w="889635">
                    <a:moveTo>
                      <a:pt x="0" y="0"/>
                    </a:moveTo>
                    <a:lnTo>
                      <a:pt x="889635" y="0"/>
                    </a:lnTo>
                    <a:lnTo>
                      <a:pt x="889635" y="860044"/>
                    </a:lnTo>
                    <a:lnTo>
                      <a:pt x="0" y="8600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9"/>
                <a:stretch>
                  <a:fillRect l="0" t="-26" r="2" b="-19"/>
                </a:stretch>
              </a:blip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996910"/>
              <a:ext cx="889610" cy="874560"/>
              <a:chOff x="0" y="0"/>
              <a:chExt cx="889610" cy="87456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89635" cy="874522"/>
              </a:xfrm>
              <a:custGeom>
                <a:avLst/>
                <a:gdLst/>
                <a:ahLst/>
                <a:cxnLst/>
                <a:rect r="r" b="b" t="t" l="l"/>
                <a:pathLst>
                  <a:path h="874522" w="889635">
                    <a:moveTo>
                      <a:pt x="0" y="0"/>
                    </a:moveTo>
                    <a:lnTo>
                      <a:pt x="889635" y="0"/>
                    </a:lnTo>
                    <a:lnTo>
                      <a:pt x="889635" y="874522"/>
                    </a:lnTo>
                    <a:lnTo>
                      <a:pt x="0" y="87452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0"/>
                <a:stretch>
                  <a:fillRect l="0" t="-26" r="2" b="-31"/>
                </a:stretch>
              </a:blipFill>
            </p:spPr>
          </p:sp>
        </p:grpSp>
        <p:grpSp>
          <p:nvGrpSpPr>
            <p:cNvPr name="Group 53" id="53"/>
            <p:cNvGrpSpPr/>
            <p:nvPr/>
          </p:nvGrpSpPr>
          <p:grpSpPr>
            <a:xfrm rot="0">
              <a:off x="0" y="3148406"/>
              <a:ext cx="889610" cy="583044"/>
              <a:chOff x="0" y="0"/>
              <a:chExt cx="889610" cy="583044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89635" cy="583057"/>
              </a:xfrm>
              <a:custGeom>
                <a:avLst/>
                <a:gdLst/>
                <a:ahLst/>
                <a:cxnLst/>
                <a:rect r="r" b="b" t="t" l="l"/>
                <a:pathLst>
                  <a:path h="583057" w="889635">
                    <a:moveTo>
                      <a:pt x="0" y="0"/>
                    </a:moveTo>
                    <a:lnTo>
                      <a:pt x="889635" y="0"/>
                    </a:lnTo>
                    <a:lnTo>
                      <a:pt x="889635" y="583057"/>
                    </a:lnTo>
                    <a:lnTo>
                      <a:pt x="0" y="58305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1"/>
                <a:stretch>
                  <a:fillRect l="0" t="-26" r="2" b="-23"/>
                </a:stretch>
              </a:blipFill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4008399"/>
              <a:ext cx="889610" cy="859980"/>
              <a:chOff x="0" y="0"/>
              <a:chExt cx="889610" cy="85998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89635" cy="860044"/>
              </a:xfrm>
              <a:custGeom>
                <a:avLst/>
                <a:gdLst/>
                <a:ahLst/>
                <a:cxnLst/>
                <a:rect r="r" b="b" t="t" l="l"/>
                <a:pathLst>
                  <a:path h="860044" w="889635">
                    <a:moveTo>
                      <a:pt x="0" y="0"/>
                    </a:moveTo>
                    <a:lnTo>
                      <a:pt x="889635" y="0"/>
                    </a:lnTo>
                    <a:lnTo>
                      <a:pt x="889635" y="860044"/>
                    </a:lnTo>
                    <a:lnTo>
                      <a:pt x="0" y="8600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2"/>
                <a:stretch>
                  <a:fillRect l="0" t="-26" r="2" b="-19"/>
                </a:stretch>
              </a:blipFill>
            </p:spPr>
          </p:sp>
        </p:grpSp>
      </p:grpSp>
      <p:sp>
        <p:nvSpPr>
          <p:cNvPr name="TextBox 57" id="57"/>
          <p:cNvSpPr txBox="true"/>
          <p:nvPr/>
        </p:nvSpPr>
        <p:spPr>
          <a:xfrm rot="0">
            <a:off x="991191" y="8640089"/>
            <a:ext cx="7179469" cy="82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-67">
                <a:solidFill>
                  <a:srgbClr val="F8F8F8">
                    <a:alpha val="84314"/>
                  </a:srgbClr>
                </a:solidFill>
                <a:latin typeface="Heebo"/>
                <a:ea typeface="Heebo"/>
                <a:cs typeface="Heebo"/>
                <a:sym typeface="Heebo"/>
              </a:rPr>
              <a:t>All approaches have value. This is a conceptual comparison; no direct head-to-head benchmark exists.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8570681"/>
            <a:ext cx="18288000" cy="1716319"/>
            <a:chOff x="0" y="0"/>
            <a:chExt cx="24384000" cy="22884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288413"/>
            </a:xfrm>
            <a:custGeom>
              <a:avLst/>
              <a:gdLst/>
              <a:ahLst/>
              <a:cxnLst/>
              <a:rect r="r" b="b" t="t" l="l"/>
              <a:pathLst>
                <a:path h="228841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8413"/>
                  </a:lnTo>
                  <a:lnTo>
                    <a:pt x="0" y="2288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47712" y="993248"/>
            <a:ext cx="10953655" cy="78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9"/>
              </a:lnSpc>
            </a:pPr>
            <a:r>
              <a:rPr lang="en-US" b="true" sz="6959" spc="-345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One patient. Three questions.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64089" y="1705394"/>
            <a:ext cx="1750047" cy="448208"/>
            <a:chOff x="0" y="0"/>
            <a:chExt cx="2333396" cy="5976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33371" cy="597662"/>
            </a:xfrm>
            <a:custGeom>
              <a:avLst/>
              <a:gdLst/>
              <a:ahLst/>
              <a:cxnLst/>
              <a:rect r="r" b="b" t="t" l="l"/>
              <a:pathLst>
                <a:path h="597662" w="2333371">
                  <a:moveTo>
                    <a:pt x="0" y="0"/>
                  </a:moveTo>
                  <a:lnTo>
                    <a:pt x="2333371" y="0"/>
                  </a:lnTo>
                  <a:lnTo>
                    <a:pt x="2333371" y="597662"/>
                  </a:lnTo>
                  <a:lnTo>
                    <a:pt x="0" y="597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7" r="-1" b="-1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176624" y="2776728"/>
            <a:ext cx="2187559" cy="3443573"/>
            <a:chOff x="0" y="0"/>
            <a:chExt cx="2916746" cy="45914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16809" cy="4591431"/>
            </a:xfrm>
            <a:custGeom>
              <a:avLst/>
              <a:gdLst/>
              <a:ahLst/>
              <a:cxnLst/>
              <a:rect r="r" b="b" t="t" l="l"/>
              <a:pathLst>
                <a:path h="4591431" w="2916809">
                  <a:moveTo>
                    <a:pt x="0" y="0"/>
                  </a:moveTo>
                  <a:lnTo>
                    <a:pt x="2916809" y="0"/>
                  </a:lnTo>
                  <a:lnTo>
                    <a:pt x="2916809" y="4591431"/>
                  </a:lnTo>
                  <a:lnTo>
                    <a:pt x="0" y="4591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" r="2" b="-2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134488" y="1924031"/>
            <a:ext cx="1968808" cy="1934966"/>
            <a:chOff x="0" y="0"/>
            <a:chExt cx="2625077" cy="25799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25090" cy="2580005"/>
            </a:xfrm>
            <a:custGeom>
              <a:avLst/>
              <a:gdLst/>
              <a:ahLst/>
              <a:cxnLst/>
              <a:rect r="r" b="b" t="t" l="l"/>
              <a:pathLst>
                <a:path h="2580005" w="2625090">
                  <a:moveTo>
                    <a:pt x="0" y="0"/>
                  </a:moveTo>
                  <a:lnTo>
                    <a:pt x="2625090" y="0"/>
                  </a:lnTo>
                  <a:lnTo>
                    <a:pt x="2625090" y="2580005"/>
                  </a:lnTo>
                  <a:lnTo>
                    <a:pt x="0" y="2580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" r="0" b="-2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823355" y="3923776"/>
            <a:ext cx="630107" cy="29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5"/>
              </a:lnSpc>
            </a:pPr>
            <a:r>
              <a:rPr lang="en-US" b="true" sz="2645" spc="-78">
                <a:solidFill>
                  <a:srgbClr val="00B1B8"/>
                </a:solidFill>
                <a:latin typeface="Heebo Bold"/>
                <a:ea typeface="Heebo Bold"/>
                <a:cs typeface="Heebo Bold"/>
                <a:sym typeface="Heebo Bold"/>
              </a:rPr>
              <a:t>EHR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51537" y="4193638"/>
            <a:ext cx="1373743" cy="48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39" spc="-50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Clinical history</a:t>
            </a:r>
          </a:p>
          <a:p>
            <a:pPr algn="ctr">
              <a:lnSpc>
                <a:spcPts val="2088"/>
              </a:lnSpc>
            </a:pPr>
            <a:r>
              <a:rPr lang="en-US" sz="1739" spc="-50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and labs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696976" y="4711684"/>
            <a:ext cx="2843832" cy="2798588"/>
            <a:chOff x="0" y="0"/>
            <a:chExt cx="3791776" cy="37314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91712" cy="3731514"/>
            </a:xfrm>
            <a:custGeom>
              <a:avLst/>
              <a:gdLst/>
              <a:ahLst/>
              <a:cxnLst/>
              <a:rect r="r" b="b" t="t" l="l"/>
              <a:pathLst>
                <a:path h="3731514" w="3791712">
                  <a:moveTo>
                    <a:pt x="0" y="0"/>
                  </a:moveTo>
                  <a:lnTo>
                    <a:pt x="3791712" y="0"/>
                  </a:lnTo>
                  <a:lnTo>
                    <a:pt x="3791712" y="3731514"/>
                  </a:lnTo>
                  <a:lnTo>
                    <a:pt x="0" y="3731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6" r="-1" b="-2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572000" y="5138033"/>
            <a:ext cx="1093784" cy="1508617"/>
            <a:chOff x="0" y="0"/>
            <a:chExt cx="1458379" cy="20114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58341" cy="2011426"/>
            </a:xfrm>
            <a:custGeom>
              <a:avLst/>
              <a:gdLst/>
              <a:ahLst/>
              <a:cxnLst/>
              <a:rect r="r" b="b" t="t" l="l"/>
              <a:pathLst>
                <a:path h="2011426" w="1458341">
                  <a:moveTo>
                    <a:pt x="0" y="0"/>
                  </a:moveTo>
                  <a:lnTo>
                    <a:pt x="1458341" y="0"/>
                  </a:lnTo>
                  <a:lnTo>
                    <a:pt x="1458341" y="2011426"/>
                  </a:lnTo>
                  <a:lnTo>
                    <a:pt x="0" y="2011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6" r="-2" b="-29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232672" y="6722602"/>
            <a:ext cx="1848441" cy="266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b="true" sz="2250" spc="-67">
                <a:solidFill>
                  <a:srgbClr val="00B1B8"/>
                </a:solidFill>
                <a:latin typeface="Heebo Bold"/>
                <a:ea typeface="Heebo Bold"/>
                <a:cs typeface="Heebo Bold"/>
                <a:sym typeface="Heebo Bold"/>
              </a:rPr>
              <a:t>ONE PATIENT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520352" y="5990730"/>
            <a:ext cx="1750047" cy="1945891"/>
            <a:chOff x="0" y="0"/>
            <a:chExt cx="2333396" cy="25945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33371" cy="2594483"/>
            </a:xfrm>
            <a:custGeom>
              <a:avLst/>
              <a:gdLst/>
              <a:ahLst/>
              <a:cxnLst/>
              <a:rect r="r" b="b" t="t" l="l"/>
              <a:pathLst>
                <a:path h="2594483" w="2333371">
                  <a:moveTo>
                    <a:pt x="0" y="0"/>
                  </a:moveTo>
                  <a:lnTo>
                    <a:pt x="2333371" y="0"/>
                  </a:lnTo>
                  <a:lnTo>
                    <a:pt x="2333371" y="2594483"/>
                  </a:lnTo>
                  <a:lnTo>
                    <a:pt x="0" y="2594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6" r="-1" b="-28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17768" y="8050444"/>
            <a:ext cx="1910944" cy="29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5"/>
              </a:lnSpc>
            </a:pPr>
            <a:r>
              <a:rPr lang="en-US" b="true" sz="2645" spc="-78">
                <a:solidFill>
                  <a:srgbClr val="00B1B8"/>
                </a:solidFill>
                <a:latin typeface="Heebo Bold"/>
                <a:ea typeface="Heebo Bold"/>
                <a:cs typeface="Heebo Bold"/>
                <a:sym typeface="Heebo Bold"/>
              </a:rPr>
              <a:t>WEARABLES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4046" y="8327393"/>
            <a:ext cx="2178396" cy="62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5"/>
              </a:lnSpc>
            </a:pPr>
            <a:r>
              <a:rPr lang="en-US" sz="2088" spc="-6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Continuous signals and trends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040704" y="7499347"/>
            <a:ext cx="4364184" cy="1082269"/>
            <a:chOff x="0" y="0"/>
            <a:chExt cx="5818911" cy="14430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18886" cy="1442974"/>
            </a:xfrm>
            <a:custGeom>
              <a:avLst/>
              <a:gdLst/>
              <a:ahLst/>
              <a:cxnLst/>
              <a:rect r="r" b="b" t="t" l="l"/>
              <a:pathLst>
                <a:path h="1442974" w="5818886">
                  <a:moveTo>
                    <a:pt x="0" y="0"/>
                  </a:moveTo>
                  <a:lnTo>
                    <a:pt x="5818886" y="0"/>
                  </a:lnTo>
                  <a:lnTo>
                    <a:pt x="5818886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6" r="0" b="-2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56441" y="5990730"/>
            <a:ext cx="1760982" cy="1945891"/>
            <a:chOff x="0" y="0"/>
            <a:chExt cx="2347976" cy="259452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47976" cy="2594483"/>
            </a:xfrm>
            <a:custGeom>
              <a:avLst/>
              <a:gdLst/>
              <a:ahLst/>
              <a:cxnLst/>
              <a:rect r="r" b="b" t="t" l="l"/>
              <a:pathLst>
                <a:path h="2594483" w="2347976">
                  <a:moveTo>
                    <a:pt x="0" y="0"/>
                  </a:moveTo>
                  <a:lnTo>
                    <a:pt x="2347976" y="0"/>
                  </a:lnTo>
                  <a:lnTo>
                    <a:pt x="2347976" y="2594483"/>
                  </a:lnTo>
                  <a:lnTo>
                    <a:pt x="0" y="2594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6" r="0" b="-2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572000" y="2350379"/>
            <a:ext cx="1093784" cy="1082269"/>
            <a:chOff x="0" y="0"/>
            <a:chExt cx="1458379" cy="14430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58341" cy="1442974"/>
            </a:xfrm>
            <a:custGeom>
              <a:avLst/>
              <a:gdLst/>
              <a:ahLst/>
              <a:cxnLst/>
              <a:rect r="r" b="b" t="t" l="l"/>
              <a:pathLst>
                <a:path h="1442974" w="1458341">
                  <a:moveTo>
                    <a:pt x="0" y="0"/>
                  </a:moveTo>
                  <a:lnTo>
                    <a:pt x="1458341" y="0"/>
                  </a:lnTo>
                  <a:lnTo>
                    <a:pt x="1458341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6" r="-2" b="-29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957864" y="6428013"/>
            <a:ext cx="875024" cy="1082269"/>
            <a:chOff x="0" y="0"/>
            <a:chExt cx="1166698" cy="144302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66749" cy="1442974"/>
            </a:xfrm>
            <a:custGeom>
              <a:avLst/>
              <a:gdLst/>
              <a:ahLst/>
              <a:cxnLst/>
              <a:rect r="r" b="b" t="t" l="l"/>
              <a:pathLst>
                <a:path h="1442974" w="1166749">
                  <a:moveTo>
                    <a:pt x="0" y="0"/>
                  </a:moveTo>
                  <a:lnTo>
                    <a:pt x="1166749" y="0"/>
                  </a:lnTo>
                  <a:lnTo>
                    <a:pt x="1166749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26" r="4" b="-29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393953" y="6428013"/>
            <a:ext cx="1104719" cy="1082269"/>
            <a:chOff x="0" y="0"/>
            <a:chExt cx="1472959" cy="14430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72946" cy="1442974"/>
            </a:xfrm>
            <a:custGeom>
              <a:avLst/>
              <a:gdLst/>
              <a:ahLst/>
              <a:cxnLst/>
              <a:rect r="r" b="b" t="t" l="l"/>
              <a:pathLst>
                <a:path h="1442974" w="1472946">
                  <a:moveTo>
                    <a:pt x="0" y="0"/>
                  </a:moveTo>
                  <a:lnTo>
                    <a:pt x="1472946" y="0"/>
                  </a:lnTo>
                  <a:lnTo>
                    <a:pt x="1472946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26" r="0" b="-29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7227237" y="8050444"/>
            <a:ext cx="1305001" cy="29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5"/>
              </a:lnSpc>
            </a:pPr>
            <a:r>
              <a:rPr lang="en-US" b="true" sz="2645" spc="-78">
                <a:solidFill>
                  <a:srgbClr val="00B1B8"/>
                </a:solidFill>
                <a:latin typeface="Heebo Bold"/>
                <a:ea typeface="Heebo Bold"/>
                <a:cs typeface="Heebo Bold"/>
                <a:sym typeface="Heebo Bold"/>
              </a:rPr>
              <a:t>DOCTOR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45135" y="8327393"/>
            <a:ext cx="1869205" cy="62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5"/>
              </a:lnSpc>
            </a:pPr>
            <a:r>
              <a:rPr lang="en-US" sz="2088" spc="-6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Interpret, decide,</a:t>
            </a:r>
          </a:p>
          <a:p>
            <a:pPr algn="ctr">
              <a:lnSpc>
                <a:spcPts val="2505"/>
              </a:lnSpc>
            </a:pPr>
            <a:r>
              <a:rPr lang="en-US" sz="2088" spc="-6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act safely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831465" y="5564381"/>
            <a:ext cx="1750047" cy="437283"/>
            <a:chOff x="0" y="0"/>
            <a:chExt cx="2333396" cy="58304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33371" cy="583057"/>
            </a:xfrm>
            <a:custGeom>
              <a:avLst/>
              <a:gdLst/>
              <a:ahLst/>
              <a:cxnLst/>
              <a:rect r="r" b="b" t="t" l="l"/>
              <a:pathLst>
                <a:path h="583057" w="2333371">
                  <a:moveTo>
                    <a:pt x="0" y="0"/>
                  </a:moveTo>
                  <a:lnTo>
                    <a:pt x="2333371" y="0"/>
                  </a:lnTo>
                  <a:lnTo>
                    <a:pt x="2333371" y="583057"/>
                  </a:lnTo>
                  <a:lnTo>
                    <a:pt x="0" y="583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6" r="-1" b="-23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831465" y="5564381"/>
            <a:ext cx="448447" cy="437283"/>
            <a:chOff x="0" y="0"/>
            <a:chExt cx="597929" cy="5830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7916" cy="583057"/>
            </a:xfrm>
            <a:custGeom>
              <a:avLst/>
              <a:gdLst/>
              <a:ahLst/>
              <a:cxnLst/>
              <a:rect r="r" b="b" t="t" l="l"/>
              <a:pathLst>
                <a:path h="583057" w="597916">
                  <a:moveTo>
                    <a:pt x="0" y="0"/>
                  </a:moveTo>
                  <a:lnTo>
                    <a:pt x="597916" y="0"/>
                  </a:lnTo>
                  <a:lnTo>
                    <a:pt x="597916" y="583057"/>
                  </a:lnTo>
                  <a:lnTo>
                    <a:pt x="0" y="583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26" r="-2" b="-23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51816" y="5138033"/>
            <a:ext cx="2187559" cy="1300905"/>
            <a:chOff x="0" y="0"/>
            <a:chExt cx="2916746" cy="173454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16809" cy="1734566"/>
            </a:xfrm>
            <a:custGeom>
              <a:avLst/>
              <a:gdLst/>
              <a:ahLst/>
              <a:cxnLst/>
              <a:rect r="r" b="b" t="t" l="l"/>
              <a:pathLst>
                <a:path h="1734566" w="2916809">
                  <a:moveTo>
                    <a:pt x="0" y="0"/>
                  </a:moveTo>
                  <a:lnTo>
                    <a:pt x="2916809" y="0"/>
                  </a:lnTo>
                  <a:lnTo>
                    <a:pt x="2916809" y="1734566"/>
                  </a:lnTo>
                  <a:lnTo>
                    <a:pt x="0" y="1734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26" r="2" b="-25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645253" y="5554351"/>
            <a:ext cx="1513884" cy="63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</a:pPr>
            <a:r>
              <a:rPr lang="en-US" b="true" sz="2783" spc="-81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ADVERSE EVENT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965953" y="2350379"/>
            <a:ext cx="1104719" cy="1082269"/>
            <a:chOff x="0" y="0"/>
            <a:chExt cx="1472959" cy="144302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72946" cy="1442974"/>
            </a:xfrm>
            <a:custGeom>
              <a:avLst/>
              <a:gdLst/>
              <a:ahLst/>
              <a:cxnLst/>
              <a:rect r="r" b="b" t="t" l="l"/>
              <a:pathLst>
                <a:path h="1442974" w="1472946">
                  <a:moveTo>
                    <a:pt x="0" y="0"/>
                  </a:moveTo>
                  <a:lnTo>
                    <a:pt x="1472946" y="0"/>
                  </a:lnTo>
                  <a:lnTo>
                    <a:pt x="1472946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26" r="0" b="-29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2411508" y="2675201"/>
            <a:ext cx="443303" cy="35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8"/>
              </a:lnSpc>
            </a:pPr>
            <a:r>
              <a:rPr lang="en-US" b="true" sz="3128" spc="-93">
                <a:solidFill>
                  <a:srgbClr val="00B1B8"/>
                </a:solidFill>
                <a:latin typeface="Heebo Bold"/>
                <a:ea typeface="Heebo Bold"/>
                <a:cs typeface="Heebo Bold"/>
                <a:sym typeface="Heebo Bold"/>
              </a:rPr>
              <a:t>01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461216" y="2447811"/>
            <a:ext cx="1368028" cy="29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b="true" sz="2645" spc="-78">
                <a:solidFill>
                  <a:srgbClr val="00B1B8"/>
                </a:solidFill>
                <a:latin typeface="Heebo Bold"/>
                <a:ea typeface="Heebo Bold"/>
                <a:cs typeface="Heebo Bold"/>
                <a:sym typeface="Heebo Bold"/>
              </a:rPr>
              <a:t>NORMAL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448348" y="2849232"/>
            <a:ext cx="2654722" cy="74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58" spc="-76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How long until</a:t>
            </a:r>
          </a:p>
          <a:p>
            <a:pPr algn="l">
              <a:lnSpc>
                <a:spcPts val="3070"/>
              </a:lnSpc>
            </a:pPr>
            <a:r>
              <a:rPr lang="en-US" sz="2558" spc="-76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they cross the line?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403465" y="3214002"/>
            <a:ext cx="229695" cy="1082269"/>
            <a:chOff x="0" y="0"/>
            <a:chExt cx="306260" cy="144302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6197" cy="1442974"/>
            </a:xfrm>
            <a:custGeom>
              <a:avLst/>
              <a:gdLst/>
              <a:ahLst/>
              <a:cxnLst/>
              <a:rect r="r" b="b" t="t" l="l"/>
              <a:pathLst>
                <a:path h="1442974" w="306197">
                  <a:moveTo>
                    <a:pt x="0" y="0"/>
                  </a:moveTo>
                  <a:lnTo>
                    <a:pt x="306197" y="0"/>
                  </a:lnTo>
                  <a:lnTo>
                    <a:pt x="306197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26" r="-20" b="-2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965953" y="4066699"/>
            <a:ext cx="1104719" cy="1082269"/>
            <a:chOff x="0" y="0"/>
            <a:chExt cx="1472959" cy="144302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72946" cy="1442974"/>
            </a:xfrm>
            <a:custGeom>
              <a:avLst/>
              <a:gdLst/>
              <a:ahLst/>
              <a:cxnLst/>
              <a:rect r="r" b="b" t="t" l="l"/>
              <a:pathLst>
                <a:path h="1442974" w="1472946">
                  <a:moveTo>
                    <a:pt x="0" y="0"/>
                  </a:moveTo>
                  <a:lnTo>
                    <a:pt x="1472946" y="0"/>
                  </a:lnTo>
                  <a:lnTo>
                    <a:pt x="1472946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26" r="0" b="-29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2411508" y="4380595"/>
            <a:ext cx="443303" cy="35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8"/>
              </a:lnSpc>
            </a:pPr>
            <a:r>
              <a:rPr lang="en-US" b="true" sz="3128" spc="-93">
                <a:solidFill>
                  <a:srgbClr val="00B1B8"/>
                </a:solidFill>
                <a:latin typeface="Heebo Bold"/>
                <a:ea typeface="Heebo Bold"/>
                <a:cs typeface="Heebo Bold"/>
                <a:sym typeface="Heebo Bold"/>
              </a:rPr>
              <a:t>02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439289" y="4239654"/>
            <a:ext cx="3561140" cy="29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b="true" sz="2654" spc="-79">
                <a:solidFill>
                  <a:srgbClr val="00B1B8"/>
                </a:solidFill>
                <a:latin typeface="Heebo Bold"/>
                <a:ea typeface="Heebo Bold"/>
                <a:cs typeface="Heebo Bold"/>
                <a:sym typeface="Heebo Bold"/>
              </a:rPr>
              <a:t>EARLY DETERIORATION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440508" y="4656534"/>
            <a:ext cx="3439058" cy="35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436" spc="-7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Will it keep getting worse?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2403465" y="4919396"/>
            <a:ext cx="229695" cy="874557"/>
            <a:chOff x="0" y="0"/>
            <a:chExt cx="306260" cy="116607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06197" cy="1166114"/>
            </a:xfrm>
            <a:custGeom>
              <a:avLst/>
              <a:gdLst/>
              <a:ahLst/>
              <a:cxnLst/>
              <a:rect r="r" b="b" t="t" l="l"/>
              <a:pathLst>
                <a:path h="1166114" w="306197">
                  <a:moveTo>
                    <a:pt x="0" y="0"/>
                  </a:moveTo>
                  <a:lnTo>
                    <a:pt x="306197" y="0"/>
                  </a:lnTo>
                  <a:lnTo>
                    <a:pt x="306197" y="1166114"/>
                  </a:lnTo>
                  <a:lnTo>
                    <a:pt x="0" y="1166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26" r="-20" b="-23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965953" y="5564381"/>
            <a:ext cx="1104719" cy="1082269"/>
            <a:chOff x="0" y="0"/>
            <a:chExt cx="1472959" cy="144302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72946" cy="1442974"/>
            </a:xfrm>
            <a:custGeom>
              <a:avLst/>
              <a:gdLst/>
              <a:ahLst/>
              <a:cxnLst/>
              <a:rect r="r" b="b" t="t" l="l"/>
              <a:pathLst>
                <a:path h="1442974" w="1472946">
                  <a:moveTo>
                    <a:pt x="0" y="0"/>
                  </a:moveTo>
                  <a:lnTo>
                    <a:pt x="1472946" y="0"/>
                  </a:lnTo>
                  <a:lnTo>
                    <a:pt x="1472946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26" r="0" b="-29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2411508" y="6032078"/>
            <a:ext cx="443303" cy="35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8"/>
              </a:lnSpc>
            </a:pPr>
            <a:r>
              <a:rPr lang="en-US" b="true" sz="3128" spc="-93">
                <a:solidFill>
                  <a:srgbClr val="00B1B8"/>
                </a:solidFill>
                <a:latin typeface="Heebo Bold"/>
                <a:ea typeface="Heebo Bold"/>
                <a:cs typeface="Heebo Bold"/>
                <a:sym typeface="Heebo Bold"/>
              </a:rPr>
              <a:t>03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414086" y="5821442"/>
            <a:ext cx="3402311" cy="29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b="true" sz="2645" spc="-78">
                <a:solidFill>
                  <a:srgbClr val="00B1B8"/>
                </a:solidFill>
                <a:latin typeface="Heebo Bold"/>
                <a:ea typeface="Heebo Bold"/>
                <a:cs typeface="Heebo Bold"/>
                <a:sym typeface="Heebo Bold"/>
              </a:rPr>
              <a:t>CRITICAL THRESHOLD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452634" y="6222863"/>
            <a:ext cx="2226897" cy="74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58" spc="-76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Will it become</a:t>
            </a:r>
          </a:p>
          <a:p>
            <a:pPr algn="l">
              <a:lnSpc>
                <a:spcPts val="3070"/>
              </a:lnSpc>
            </a:pPr>
            <a:r>
              <a:rPr lang="en-US" sz="2558" spc="-76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life-threatening?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2403465" y="6635715"/>
            <a:ext cx="229695" cy="1082269"/>
            <a:chOff x="0" y="0"/>
            <a:chExt cx="306260" cy="144302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06197" cy="1442974"/>
            </a:xfrm>
            <a:custGeom>
              <a:avLst/>
              <a:gdLst/>
              <a:ahLst/>
              <a:cxnLst/>
              <a:rect r="r" b="b" t="t" l="l"/>
              <a:pathLst>
                <a:path h="1442974" w="306197">
                  <a:moveTo>
                    <a:pt x="0" y="0"/>
                  </a:moveTo>
                  <a:lnTo>
                    <a:pt x="306197" y="0"/>
                  </a:lnTo>
                  <a:lnTo>
                    <a:pt x="306197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26" r="-20" b="-29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965953" y="7499347"/>
            <a:ext cx="1104719" cy="1082269"/>
            <a:chOff x="0" y="0"/>
            <a:chExt cx="1472959" cy="144302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72946" cy="1442974"/>
            </a:xfrm>
            <a:custGeom>
              <a:avLst/>
              <a:gdLst/>
              <a:ahLst/>
              <a:cxnLst/>
              <a:rect r="r" b="b" t="t" l="l"/>
              <a:pathLst>
                <a:path h="1442974" w="1472946">
                  <a:moveTo>
                    <a:pt x="0" y="0"/>
                  </a:moveTo>
                  <a:lnTo>
                    <a:pt x="1472946" y="0"/>
                  </a:lnTo>
                  <a:lnTo>
                    <a:pt x="1472946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26" r="0" b="-29"/>
              </a:stretch>
            </a:blip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12411508" y="7803709"/>
            <a:ext cx="443303" cy="35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8"/>
              </a:lnSpc>
            </a:pPr>
            <a:r>
              <a:rPr lang="en-US" b="true" sz="3128" spc="-93">
                <a:solidFill>
                  <a:srgbClr val="00B1B8"/>
                </a:solidFill>
                <a:latin typeface="Heebo Bold"/>
                <a:ea typeface="Heebo Bold"/>
                <a:cs typeface="Heebo Bold"/>
                <a:sym typeface="Heebo Bold"/>
              </a:rPr>
              <a:t>04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445357" y="7658862"/>
            <a:ext cx="2954198" cy="29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b="true" sz="2645" spc="-78">
                <a:solidFill>
                  <a:srgbClr val="00B1B8"/>
                </a:solidFill>
                <a:latin typeface="Heebo Bold"/>
                <a:ea typeface="Heebo Bold"/>
                <a:cs typeface="Heebo Bold"/>
                <a:sym typeface="Heebo Bold"/>
              </a:rPr>
              <a:t>DECOMPENSATION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441566" y="8045225"/>
            <a:ext cx="3333740" cy="74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58" spc="-76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What happens next, and how do we act safest?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2403465" y="8570681"/>
            <a:ext cx="448447" cy="863632"/>
            <a:chOff x="0" y="0"/>
            <a:chExt cx="597929" cy="115150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97916" cy="1151509"/>
            </a:xfrm>
            <a:custGeom>
              <a:avLst/>
              <a:gdLst/>
              <a:ahLst/>
              <a:cxnLst/>
              <a:rect r="r" b="b" t="t" l="l"/>
              <a:pathLst>
                <a:path h="1151509" w="597916">
                  <a:moveTo>
                    <a:pt x="0" y="0"/>
                  </a:moveTo>
                  <a:lnTo>
                    <a:pt x="597916" y="0"/>
                  </a:lnTo>
                  <a:lnTo>
                    <a:pt x="597916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-26" r="-2" b="-26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2676" y="872833"/>
            <a:ext cx="9420492" cy="87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b="true" sz="7517" spc="-223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Architecture and stack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45328" y="1705394"/>
            <a:ext cx="2406320" cy="229572"/>
            <a:chOff x="0" y="0"/>
            <a:chExt cx="3208426" cy="3060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8401" cy="306070"/>
            </a:xfrm>
            <a:custGeom>
              <a:avLst/>
              <a:gdLst/>
              <a:ahLst/>
              <a:cxnLst/>
              <a:rect r="r" b="b" t="t" l="l"/>
              <a:pathLst>
                <a:path h="306070" w="3208401">
                  <a:moveTo>
                    <a:pt x="0" y="0"/>
                  </a:moveTo>
                  <a:lnTo>
                    <a:pt x="3208401" y="0"/>
                  </a:lnTo>
                  <a:lnTo>
                    <a:pt x="3208401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" r="0" b="-3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64089" y="2142668"/>
            <a:ext cx="2843832" cy="1716319"/>
            <a:chOff x="0" y="0"/>
            <a:chExt cx="3791776" cy="22884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91712" cy="2288413"/>
            </a:xfrm>
            <a:custGeom>
              <a:avLst/>
              <a:gdLst/>
              <a:ahLst/>
              <a:cxnLst/>
              <a:rect r="r" b="b" t="t" l="l"/>
              <a:pathLst>
                <a:path h="2288413" w="3791712">
                  <a:moveTo>
                    <a:pt x="0" y="0"/>
                  </a:moveTo>
                  <a:lnTo>
                    <a:pt x="3791712" y="0"/>
                  </a:lnTo>
                  <a:lnTo>
                    <a:pt x="3791712" y="2288413"/>
                  </a:lnTo>
                  <a:lnTo>
                    <a:pt x="0" y="2288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-1" b="-2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00581" y="2880846"/>
            <a:ext cx="1370848" cy="47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</a:pPr>
            <a:r>
              <a:rPr lang="en-US" b="true" sz="4176" spc="-124">
                <a:solidFill>
                  <a:srgbClr val="27B5C5"/>
                </a:solidFill>
                <a:latin typeface="Heebo Bold"/>
                <a:ea typeface="Heebo Bold"/>
                <a:cs typeface="Heebo Bold"/>
                <a:sym typeface="Heebo Bold"/>
              </a:rPr>
              <a:t>DATA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957864" y="3640350"/>
            <a:ext cx="437512" cy="655920"/>
            <a:chOff x="0" y="0"/>
            <a:chExt cx="583349" cy="874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3311" cy="874522"/>
            </a:xfrm>
            <a:custGeom>
              <a:avLst/>
              <a:gdLst/>
              <a:ahLst/>
              <a:cxnLst/>
              <a:rect r="r" b="b" t="t" l="l"/>
              <a:pathLst>
                <a:path h="874522" w="583311">
                  <a:moveTo>
                    <a:pt x="0" y="0"/>
                  </a:moveTo>
                  <a:lnTo>
                    <a:pt x="583311" y="0"/>
                  </a:lnTo>
                  <a:lnTo>
                    <a:pt x="583311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" r="-6" b="-3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64089" y="4066699"/>
            <a:ext cx="2843832" cy="1508617"/>
            <a:chOff x="0" y="0"/>
            <a:chExt cx="3791776" cy="20114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91712" cy="2011426"/>
            </a:xfrm>
            <a:custGeom>
              <a:avLst/>
              <a:gdLst/>
              <a:ahLst/>
              <a:cxnLst/>
              <a:rect r="r" b="b" t="t" l="l"/>
              <a:pathLst>
                <a:path h="2011426" w="3791712">
                  <a:moveTo>
                    <a:pt x="0" y="0"/>
                  </a:moveTo>
                  <a:lnTo>
                    <a:pt x="3791712" y="0"/>
                  </a:lnTo>
                  <a:lnTo>
                    <a:pt x="3791712" y="2011426"/>
                  </a:lnTo>
                  <a:lnTo>
                    <a:pt x="0" y="2011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" r="-1" b="-29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75753" y="4623468"/>
            <a:ext cx="1820504" cy="47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</a:pPr>
            <a:r>
              <a:rPr lang="en-US" b="true" sz="4176" spc="-124">
                <a:solidFill>
                  <a:srgbClr val="27B5C5"/>
                </a:solidFill>
                <a:latin typeface="Heebo Bold"/>
                <a:ea typeface="Heebo Bold"/>
                <a:cs typeface="Heebo Bold"/>
                <a:sym typeface="Heebo Bold"/>
              </a:rPr>
              <a:t>ENGINE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957864" y="5356670"/>
            <a:ext cx="437512" cy="644985"/>
            <a:chOff x="0" y="0"/>
            <a:chExt cx="583349" cy="8599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3311" cy="860044"/>
            </a:xfrm>
            <a:custGeom>
              <a:avLst/>
              <a:gdLst/>
              <a:ahLst/>
              <a:cxnLst/>
              <a:rect r="r" b="b" t="t" l="l"/>
              <a:pathLst>
                <a:path h="860044" w="583311">
                  <a:moveTo>
                    <a:pt x="0" y="0"/>
                  </a:moveTo>
                  <a:lnTo>
                    <a:pt x="583311" y="0"/>
                  </a:lnTo>
                  <a:lnTo>
                    <a:pt x="583311" y="860044"/>
                  </a:lnTo>
                  <a:lnTo>
                    <a:pt x="0" y="860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6" r="-6" b="-1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64089" y="5783018"/>
            <a:ext cx="2843832" cy="1727254"/>
            <a:chOff x="0" y="0"/>
            <a:chExt cx="3791776" cy="23030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91712" cy="2303018"/>
            </a:xfrm>
            <a:custGeom>
              <a:avLst/>
              <a:gdLst/>
              <a:ahLst/>
              <a:cxnLst/>
              <a:rect r="r" b="b" t="t" l="l"/>
              <a:pathLst>
                <a:path h="2303018" w="3791712">
                  <a:moveTo>
                    <a:pt x="0" y="0"/>
                  </a:moveTo>
                  <a:lnTo>
                    <a:pt x="3791712" y="0"/>
                  </a:lnTo>
                  <a:lnTo>
                    <a:pt x="3791712" y="2303018"/>
                  </a:lnTo>
                  <a:lnTo>
                    <a:pt x="0" y="230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6" r="-1" b="-25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94773" y="6449116"/>
            <a:ext cx="1582464" cy="47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</a:pPr>
            <a:r>
              <a:rPr lang="en-US" b="true" sz="4176" spc="-124">
                <a:solidFill>
                  <a:srgbClr val="27B5C5"/>
                </a:solidFill>
                <a:latin typeface="Heebo Bold"/>
                <a:ea typeface="Heebo Bold"/>
                <a:cs typeface="Heebo Bold"/>
                <a:sym typeface="Heebo Bold"/>
              </a:rPr>
              <a:t>SERVE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957864" y="7280700"/>
            <a:ext cx="437512" cy="655920"/>
            <a:chOff x="0" y="0"/>
            <a:chExt cx="583349" cy="8745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3311" cy="874522"/>
            </a:xfrm>
            <a:custGeom>
              <a:avLst/>
              <a:gdLst/>
              <a:ahLst/>
              <a:cxnLst/>
              <a:rect r="r" b="b" t="t" l="l"/>
              <a:pathLst>
                <a:path h="874522" w="583311">
                  <a:moveTo>
                    <a:pt x="0" y="0"/>
                  </a:moveTo>
                  <a:lnTo>
                    <a:pt x="583311" y="0"/>
                  </a:lnTo>
                  <a:lnTo>
                    <a:pt x="583311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6" r="-6" b="-3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64089" y="7707049"/>
            <a:ext cx="2843832" cy="1508617"/>
            <a:chOff x="0" y="0"/>
            <a:chExt cx="3791776" cy="20114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91712" cy="2011426"/>
            </a:xfrm>
            <a:custGeom>
              <a:avLst/>
              <a:gdLst/>
              <a:ahLst/>
              <a:cxnLst/>
              <a:rect r="r" b="b" t="t" l="l"/>
              <a:pathLst>
                <a:path h="2011426" w="3791712">
                  <a:moveTo>
                    <a:pt x="0" y="0"/>
                  </a:moveTo>
                  <a:lnTo>
                    <a:pt x="3791712" y="0"/>
                  </a:lnTo>
                  <a:lnTo>
                    <a:pt x="3791712" y="2011426"/>
                  </a:lnTo>
                  <a:lnTo>
                    <a:pt x="0" y="2011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6" r="-1" b="-29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651416" y="8328622"/>
            <a:ext cx="1269178" cy="47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</a:pPr>
            <a:r>
              <a:rPr lang="en-US" b="true" sz="4176" spc="-124">
                <a:solidFill>
                  <a:srgbClr val="27B5C5"/>
                </a:solidFill>
                <a:latin typeface="Heebo Bold"/>
                <a:ea typeface="Heebo Bold"/>
                <a:cs typeface="Heebo Bold"/>
                <a:sym typeface="Heebo Bold"/>
              </a:rPr>
              <a:t>FACE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478216" y="8352034"/>
            <a:ext cx="885958" cy="437283"/>
            <a:chOff x="0" y="0"/>
            <a:chExt cx="1181278" cy="5830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81227" cy="583057"/>
            </a:xfrm>
            <a:custGeom>
              <a:avLst/>
              <a:gdLst/>
              <a:ahLst/>
              <a:cxnLst/>
              <a:rect r="r" b="b" t="t" l="l"/>
              <a:pathLst>
                <a:path h="583057" w="1181227">
                  <a:moveTo>
                    <a:pt x="0" y="0"/>
                  </a:moveTo>
                  <a:lnTo>
                    <a:pt x="1181227" y="0"/>
                  </a:lnTo>
                  <a:lnTo>
                    <a:pt x="1181227" y="583057"/>
                  </a:lnTo>
                  <a:lnTo>
                    <a:pt x="0" y="583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6" r="-4" b="-23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134488" y="2142668"/>
            <a:ext cx="8279911" cy="1716319"/>
            <a:chOff x="0" y="0"/>
            <a:chExt cx="11039881" cy="228842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39856" cy="2288413"/>
            </a:xfrm>
            <a:custGeom>
              <a:avLst/>
              <a:gdLst/>
              <a:ahLst/>
              <a:cxnLst/>
              <a:rect r="r" b="b" t="t" l="l"/>
              <a:pathLst>
                <a:path h="2288413" w="11039856">
                  <a:moveTo>
                    <a:pt x="0" y="0"/>
                  </a:moveTo>
                  <a:lnTo>
                    <a:pt x="11039856" y="0"/>
                  </a:lnTo>
                  <a:lnTo>
                    <a:pt x="11039856" y="2288413"/>
                  </a:lnTo>
                  <a:lnTo>
                    <a:pt x="0" y="2288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6" r="0" b="-27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4684204" y="2496683"/>
            <a:ext cx="3067355" cy="57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b="true" sz="2900" spc="-28">
                <a:solidFill>
                  <a:srgbClr val="27B5C5"/>
                </a:solidFill>
                <a:latin typeface="Heebo Bold"/>
                <a:ea typeface="Heebo Bold"/>
                <a:cs typeface="Heebo Bold"/>
                <a:sym typeface="Heebo Bold"/>
              </a:rPr>
              <a:t>Synthetic datasets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184704" y="2776728"/>
            <a:ext cx="885958" cy="448208"/>
            <a:chOff x="0" y="0"/>
            <a:chExt cx="1181278" cy="5976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81227" cy="597662"/>
            </a:xfrm>
            <a:custGeom>
              <a:avLst/>
              <a:gdLst/>
              <a:ahLst/>
              <a:cxnLst/>
              <a:rect r="r" b="b" t="t" l="l"/>
              <a:pathLst>
                <a:path h="597662" w="1181227">
                  <a:moveTo>
                    <a:pt x="0" y="0"/>
                  </a:moveTo>
                  <a:lnTo>
                    <a:pt x="1181227" y="0"/>
                  </a:lnTo>
                  <a:lnTo>
                    <a:pt x="1181227" y="597662"/>
                  </a:lnTo>
                  <a:lnTo>
                    <a:pt x="0" y="597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27" r="-4" b="-16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134488" y="4066699"/>
            <a:ext cx="8279911" cy="1508617"/>
            <a:chOff x="0" y="0"/>
            <a:chExt cx="11039881" cy="201149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039856" cy="2011426"/>
            </a:xfrm>
            <a:custGeom>
              <a:avLst/>
              <a:gdLst/>
              <a:ahLst/>
              <a:cxnLst/>
              <a:rect r="r" b="b" t="t" l="l"/>
              <a:pathLst>
                <a:path h="2011426" w="11039856">
                  <a:moveTo>
                    <a:pt x="0" y="0"/>
                  </a:moveTo>
                  <a:lnTo>
                    <a:pt x="11039856" y="0"/>
                  </a:lnTo>
                  <a:lnTo>
                    <a:pt x="11039856" y="2011426"/>
                  </a:lnTo>
                  <a:lnTo>
                    <a:pt x="0" y="2011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26" r="0" b="-29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4678213" y="4293175"/>
            <a:ext cx="3666296" cy="57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b="true" sz="2900" spc="-28">
                <a:solidFill>
                  <a:srgbClr val="27B5C5"/>
                </a:solidFill>
                <a:latin typeface="Heebo Bold"/>
                <a:ea typeface="Heebo Bold"/>
                <a:cs typeface="Heebo Bold"/>
                <a:sym typeface="Heebo Bold"/>
              </a:rPr>
              <a:t>Models and reasoning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698711" y="4805239"/>
            <a:ext cx="1616621" cy="49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337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Risk models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643726" y="4805239"/>
            <a:ext cx="2675087" cy="49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337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 Time-series models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53321" y="4805239"/>
            <a:ext cx="1753000" cy="49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337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 Clinical rules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184704" y="4711684"/>
            <a:ext cx="885958" cy="437283"/>
            <a:chOff x="0" y="0"/>
            <a:chExt cx="1181278" cy="5830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81227" cy="583057"/>
            </a:xfrm>
            <a:custGeom>
              <a:avLst/>
              <a:gdLst/>
              <a:ahLst/>
              <a:cxnLst/>
              <a:rect r="r" b="b" t="t" l="l"/>
              <a:pathLst>
                <a:path h="583057" w="1181227">
                  <a:moveTo>
                    <a:pt x="0" y="0"/>
                  </a:moveTo>
                  <a:lnTo>
                    <a:pt x="1181227" y="0"/>
                  </a:lnTo>
                  <a:lnTo>
                    <a:pt x="1181227" y="583057"/>
                  </a:lnTo>
                  <a:lnTo>
                    <a:pt x="0" y="583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6" r="-4" b="-23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134488" y="5783018"/>
            <a:ext cx="8279911" cy="1727254"/>
            <a:chOff x="0" y="0"/>
            <a:chExt cx="11039881" cy="230300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039856" cy="2303018"/>
            </a:xfrm>
            <a:custGeom>
              <a:avLst/>
              <a:gdLst/>
              <a:ahLst/>
              <a:cxnLst/>
              <a:rect r="r" b="b" t="t" l="l"/>
              <a:pathLst>
                <a:path h="2303018" w="11039856">
                  <a:moveTo>
                    <a:pt x="0" y="0"/>
                  </a:moveTo>
                  <a:lnTo>
                    <a:pt x="11039856" y="0"/>
                  </a:lnTo>
                  <a:lnTo>
                    <a:pt x="11039856" y="2303018"/>
                  </a:lnTo>
                  <a:lnTo>
                    <a:pt x="0" y="230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26" r="0" b="-25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4674289" y="6115526"/>
            <a:ext cx="4058241" cy="57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b="true" sz="2900" spc="-28">
                <a:solidFill>
                  <a:srgbClr val="27B5C5"/>
                </a:solidFill>
                <a:latin typeface="Heebo Bold"/>
                <a:ea typeface="Heebo Bold"/>
                <a:cs typeface="Heebo Bold"/>
                <a:sym typeface="Heebo Bold"/>
              </a:rPr>
              <a:t>APIs and interoperability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698835" y="6627600"/>
            <a:ext cx="1604020" cy="49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337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Secure APIs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847342" y="6627600"/>
            <a:ext cx="1066181" cy="49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337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FHIR R4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184704" y="6428013"/>
            <a:ext cx="885958" cy="437283"/>
            <a:chOff x="0" y="0"/>
            <a:chExt cx="1181278" cy="58304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81227" cy="583057"/>
            </a:xfrm>
            <a:custGeom>
              <a:avLst/>
              <a:gdLst/>
              <a:ahLst/>
              <a:cxnLst/>
              <a:rect r="r" b="b" t="t" l="l"/>
              <a:pathLst>
                <a:path h="583057" w="1181227">
                  <a:moveTo>
                    <a:pt x="0" y="0"/>
                  </a:moveTo>
                  <a:lnTo>
                    <a:pt x="1181227" y="0"/>
                  </a:lnTo>
                  <a:lnTo>
                    <a:pt x="1181227" y="583057"/>
                  </a:lnTo>
                  <a:lnTo>
                    <a:pt x="0" y="583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26" r="-4" b="-23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134488" y="7707049"/>
            <a:ext cx="8279911" cy="1508617"/>
            <a:chOff x="0" y="0"/>
            <a:chExt cx="11039881" cy="201149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039856" cy="2011426"/>
            </a:xfrm>
            <a:custGeom>
              <a:avLst/>
              <a:gdLst/>
              <a:ahLst/>
              <a:cxnLst/>
              <a:rect r="r" b="b" t="t" l="l"/>
              <a:pathLst>
                <a:path h="2011426" w="11039856">
                  <a:moveTo>
                    <a:pt x="0" y="0"/>
                  </a:moveTo>
                  <a:lnTo>
                    <a:pt x="11039856" y="0"/>
                  </a:lnTo>
                  <a:lnTo>
                    <a:pt x="11039856" y="2011426"/>
                  </a:lnTo>
                  <a:lnTo>
                    <a:pt x="0" y="2011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26" r="0" b="-29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4681680" y="7952956"/>
            <a:ext cx="3319767" cy="57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b="true" sz="2900" spc="-28">
                <a:solidFill>
                  <a:srgbClr val="27B5C5"/>
                </a:solidFill>
                <a:latin typeface="Heebo Bold"/>
                <a:ea typeface="Heebo Bold"/>
                <a:cs typeface="Heebo Bold"/>
                <a:sym typeface="Heebo Bold"/>
              </a:rPr>
              <a:t>Clinician experience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700426" y="8449961"/>
            <a:ext cx="1445095" cy="49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337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Dashboard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552486" y="8449961"/>
            <a:ext cx="1083231" cy="49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337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3D body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082553" y="8449961"/>
            <a:ext cx="774430" cy="49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337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Alerts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221600" y="8449961"/>
            <a:ext cx="2062982" cy="49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337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Patient timeline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2184704" y="8352034"/>
            <a:ext cx="885958" cy="437283"/>
            <a:chOff x="0" y="0"/>
            <a:chExt cx="1181278" cy="58304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81227" cy="583057"/>
            </a:xfrm>
            <a:custGeom>
              <a:avLst/>
              <a:gdLst/>
              <a:ahLst/>
              <a:cxnLst/>
              <a:rect r="r" b="b" t="t" l="l"/>
              <a:pathLst>
                <a:path h="583057" w="1181227">
                  <a:moveTo>
                    <a:pt x="0" y="0"/>
                  </a:moveTo>
                  <a:lnTo>
                    <a:pt x="1181227" y="0"/>
                  </a:lnTo>
                  <a:lnTo>
                    <a:pt x="1181227" y="583057"/>
                  </a:lnTo>
                  <a:lnTo>
                    <a:pt x="0" y="583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26" r="-4" b="-23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840976" y="2142668"/>
            <a:ext cx="4364184" cy="1716319"/>
            <a:chOff x="0" y="0"/>
            <a:chExt cx="5818911" cy="228842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818886" cy="2288413"/>
            </a:xfrm>
            <a:custGeom>
              <a:avLst/>
              <a:gdLst/>
              <a:ahLst/>
              <a:cxnLst/>
              <a:rect r="r" b="b" t="t" l="l"/>
              <a:pathLst>
                <a:path h="2288413" w="5818886">
                  <a:moveTo>
                    <a:pt x="0" y="0"/>
                  </a:moveTo>
                  <a:lnTo>
                    <a:pt x="5818886" y="0"/>
                  </a:lnTo>
                  <a:lnTo>
                    <a:pt x="5818886" y="2288413"/>
                  </a:lnTo>
                  <a:lnTo>
                    <a:pt x="0" y="2288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26" r="0" b="-27"/>
              </a:stretch>
            </a:blip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3450205" y="2519734"/>
            <a:ext cx="2469023" cy="93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7"/>
              </a:lnSpc>
            </a:pPr>
            <a:r>
              <a:rPr lang="en-US" sz="2418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De-identified and standards-aligned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2840976" y="4066699"/>
            <a:ext cx="4364184" cy="1508617"/>
            <a:chOff x="0" y="0"/>
            <a:chExt cx="5818911" cy="201149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818886" cy="2011426"/>
            </a:xfrm>
            <a:custGeom>
              <a:avLst/>
              <a:gdLst/>
              <a:ahLst/>
              <a:cxnLst/>
              <a:rect r="r" b="b" t="t" l="l"/>
              <a:pathLst>
                <a:path h="2011426" w="5818886">
                  <a:moveTo>
                    <a:pt x="0" y="0"/>
                  </a:moveTo>
                  <a:lnTo>
                    <a:pt x="5818886" y="0"/>
                  </a:lnTo>
                  <a:lnTo>
                    <a:pt x="5818886" y="2011426"/>
                  </a:lnTo>
                  <a:lnTo>
                    <a:pt x="0" y="2011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26" r="0" b="-29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3443366" y="4311977"/>
            <a:ext cx="3153089" cy="93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7"/>
              </a:lnSpc>
            </a:pPr>
            <a:r>
              <a:rPr lang="en-US" sz="2418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Hybrid AI pipeline</a:t>
            </a:r>
          </a:p>
          <a:p>
            <a:pPr algn="l">
              <a:lnSpc>
                <a:spcPts val="3627"/>
              </a:lnSpc>
            </a:pPr>
            <a:r>
              <a:rPr lang="en-US" sz="2418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with local LLM fallback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2840976" y="5783018"/>
            <a:ext cx="4364184" cy="1727254"/>
            <a:chOff x="0" y="0"/>
            <a:chExt cx="5818911" cy="230300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818886" cy="2303018"/>
            </a:xfrm>
            <a:custGeom>
              <a:avLst/>
              <a:gdLst/>
              <a:ahLst/>
              <a:cxnLst/>
              <a:rect r="r" b="b" t="t" l="l"/>
              <a:pathLst>
                <a:path h="2303018" w="5818886">
                  <a:moveTo>
                    <a:pt x="0" y="0"/>
                  </a:moveTo>
                  <a:lnTo>
                    <a:pt x="5818886" y="0"/>
                  </a:lnTo>
                  <a:lnTo>
                    <a:pt x="5818886" y="2303018"/>
                  </a:lnTo>
                  <a:lnTo>
                    <a:pt x="0" y="230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26" r="0" b="-25"/>
              </a:stretch>
            </a:blip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3452596" y="6134338"/>
            <a:ext cx="2229850" cy="93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7"/>
              </a:lnSpc>
            </a:pPr>
            <a:r>
              <a:rPr lang="en-US" sz="2418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FHIR R4 export</a:t>
            </a:r>
          </a:p>
          <a:p>
            <a:pPr algn="l">
              <a:lnSpc>
                <a:spcPts val="3627"/>
              </a:lnSpc>
            </a:pPr>
            <a:r>
              <a:rPr lang="en-US" sz="2418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and integrations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2840976" y="7707049"/>
            <a:ext cx="4364184" cy="1508617"/>
            <a:chOff x="0" y="0"/>
            <a:chExt cx="5818911" cy="201149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818886" cy="2011426"/>
            </a:xfrm>
            <a:custGeom>
              <a:avLst/>
              <a:gdLst/>
              <a:ahLst/>
              <a:cxnLst/>
              <a:rect r="r" b="b" t="t" l="l"/>
              <a:pathLst>
                <a:path h="2011426" w="5818886">
                  <a:moveTo>
                    <a:pt x="0" y="0"/>
                  </a:moveTo>
                  <a:lnTo>
                    <a:pt x="5818886" y="0"/>
                  </a:lnTo>
                  <a:lnTo>
                    <a:pt x="5818886" y="2011426"/>
                  </a:lnTo>
                  <a:lnTo>
                    <a:pt x="0" y="2011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26" r="0" b="-29"/>
              </a:stretch>
            </a:blip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13446928" y="7971758"/>
            <a:ext cx="2796559" cy="93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7"/>
              </a:lnSpc>
            </a:pPr>
            <a:r>
              <a:rPr lang="en-US" sz="2418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Built with Tailwind</a:t>
            </a:r>
          </a:p>
          <a:p>
            <a:pPr algn="l">
              <a:lnSpc>
                <a:spcPts val="3627"/>
              </a:lnSpc>
            </a:pPr>
            <a:r>
              <a:rPr lang="en-US" sz="2418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for speed and clarity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692806" y="2997937"/>
            <a:ext cx="2206781" cy="49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337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50,000+ patients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8361826" y="6627600"/>
            <a:ext cx="2314851" cy="49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337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Audit and logging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184679" y="2997937"/>
            <a:ext cx="2158155" cy="49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337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3M+ encounters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652845" y="2997937"/>
            <a:ext cx="1801035" cy="49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337" spc="-22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120+ sources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3478216" y="6531859"/>
            <a:ext cx="885958" cy="437283"/>
            <a:chOff x="0" y="0"/>
            <a:chExt cx="1181278" cy="58304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81227" cy="583057"/>
            </a:xfrm>
            <a:custGeom>
              <a:avLst/>
              <a:gdLst/>
              <a:ahLst/>
              <a:cxnLst/>
              <a:rect r="r" b="b" t="t" l="l"/>
              <a:pathLst>
                <a:path h="583057" w="1181227">
                  <a:moveTo>
                    <a:pt x="0" y="0"/>
                  </a:moveTo>
                  <a:lnTo>
                    <a:pt x="1181227" y="0"/>
                  </a:lnTo>
                  <a:lnTo>
                    <a:pt x="1181227" y="583057"/>
                  </a:lnTo>
                  <a:lnTo>
                    <a:pt x="0" y="583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6" r="-4" b="-23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3512496" y="2895991"/>
            <a:ext cx="885958" cy="437283"/>
            <a:chOff x="0" y="0"/>
            <a:chExt cx="1181278" cy="58304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81227" cy="583057"/>
            </a:xfrm>
            <a:custGeom>
              <a:avLst/>
              <a:gdLst/>
              <a:ahLst/>
              <a:cxnLst/>
              <a:rect r="r" b="b" t="t" l="l"/>
              <a:pathLst>
                <a:path h="583057" w="1181227">
                  <a:moveTo>
                    <a:pt x="0" y="0"/>
                  </a:moveTo>
                  <a:lnTo>
                    <a:pt x="1181227" y="0"/>
                  </a:lnTo>
                  <a:lnTo>
                    <a:pt x="1181227" y="583057"/>
                  </a:lnTo>
                  <a:lnTo>
                    <a:pt x="0" y="583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6" r="-4" b="-23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3512496" y="4753099"/>
            <a:ext cx="885958" cy="437283"/>
            <a:chOff x="0" y="0"/>
            <a:chExt cx="1181278" cy="58304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81227" cy="583057"/>
            </a:xfrm>
            <a:custGeom>
              <a:avLst/>
              <a:gdLst/>
              <a:ahLst/>
              <a:cxnLst/>
              <a:rect r="r" b="b" t="t" l="l"/>
              <a:pathLst>
                <a:path h="583057" w="1181227">
                  <a:moveTo>
                    <a:pt x="0" y="0"/>
                  </a:moveTo>
                  <a:lnTo>
                    <a:pt x="1181227" y="0"/>
                  </a:lnTo>
                  <a:lnTo>
                    <a:pt x="1181227" y="583057"/>
                  </a:lnTo>
                  <a:lnTo>
                    <a:pt x="0" y="583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6" r="-4" b="-23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8133397"/>
            <a:ext cx="18288000" cy="2153602"/>
            <a:chOff x="0" y="0"/>
            <a:chExt cx="24384000" cy="28714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871470"/>
            </a:xfrm>
            <a:custGeom>
              <a:avLst/>
              <a:gdLst/>
              <a:ahLst/>
              <a:cxnLst/>
              <a:rect r="r" b="b" t="t" l="l"/>
              <a:pathLst>
                <a:path h="287147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871470"/>
                  </a:lnTo>
                  <a:lnTo>
                    <a:pt x="0" y="2871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97538" y="745284"/>
            <a:ext cx="8650062" cy="181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b="true" sz="7656" spc="-305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Outputs and</a:t>
            </a:r>
          </a:p>
          <a:p>
            <a:pPr algn="l">
              <a:lnSpc>
                <a:spcPts val="7656"/>
              </a:lnSpc>
            </a:pPr>
            <a:r>
              <a:rPr lang="en-US" b="true" sz="7656" spc="-305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synthetic test results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64089" y="2569016"/>
            <a:ext cx="2187559" cy="437283"/>
            <a:chOff x="0" y="0"/>
            <a:chExt cx="2916746" cy="5830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16809" cy="583057"/>
            </a:xfrm>
            <a:custGeom>
              <a:avLst/>
              <a:gdLst/>
              <a:ahLst/>
              <a:cxnLst/>
              <a:rect r="r" b="b" t="t" l="l"/>
              <a:pathLst>
                <a:path h="583057" w="2916809">
                  <a:moveTo>
                    <a:pt x="0" y="0"/>
                  </a:moveTo>
                  <a:lnTo>
                    <a:pt x="2916809" y="0"/>
                  </a:lnTo>
                  <a:lnTo>
                    <a:pt x="2916809" y="583057"/>
                  </a:lnTo>
                  <a:lnTo>
                    <a:pt x="0" y="583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2" b="-2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45328" y="2776728"/>
            <a:ext cx="5457958" cy="4941256"/>
            <a:chOff x="0" y="0"/>
            <a:chExt cx="7277278" cy="65883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77227" cy="6588379"/>
            </a:xfrm>
            <a:custGeom>
              <a:avLst/>
              <a:gdLst/>
              <a:ahLst/>
              <a:cxnLst/>
              <a:rect r="r" b="b" t="t" l="l"/>
              <a:pathLst>
                <a:path h="6588379" w="7277227">
                  <a:moveTo>
                    <a:pt x="0" y="0"/>
                  </a:moveTo>
                  <a:lnTo>
                    <a:pt x="7277227" y="0"/>
                  </a:lnTo>
                  <a:lnTo>
                    <a:pt x="7277227" y="6588379"/>
                  </a:lnTo>
                  <a:lnTo>
                    <a:pt x="0" y="6588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" r="0" b="-2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73858" y="3281058"/>
            <a:ext cx="2449611" cy="38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b="true" sz="2003" spc="-80">
                <a:solidFill>
                  <a:srgbClr val="00B7D1"/>
                </a:solidFill>
                <a:latin typeface="Heebo Bold"/>
                <a:ea typeface="Heebo Bold"/>
                <a:cs typeface="Heebo Bold"/>
                <a:sym typeface="Heebo Bold"/>
              </a:rPr>
              <a:t>SYNTHETIC EXAMPLE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7352" y="3894125"/>
            <a:ext cx="3787407" cy="62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9"/>
              </a:lnSpc>
            </a:pPr>
            <a:r>
              <a:rPr lang="en-US" b="true" sz="4709" spc="-188">
                <a:solidFill>
                  <a:srgbClr val="00B7D1"/>
                </a:solidFill>
                <a:latin typeface="Heebo Bold"/>
                <a:ea typeface="Heebo Bold"/>
                <a:cs typeface="Heebo Bold"/>
                <a:sym typeface="Heebo Bold"/>
              </a:rPr>
              <a:t>Rajesh Sharma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82840" y="4493047"/>
            <a:ext cx="4801695" cy="229572"/>
            <a:chOff x="0" y="0"/>
            <a:chExt cx="6402260" cy="3060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02197" cy="306070"/>
            </a:xfrm>
            <a:custGeom>
              <a:avLst/>
              <a:gdLst/>
              <a:ahLst/>
              <a:cxnLst/>
              <a:rect r="r" b="b" t="t" l="l"/>
              <a:pathLst>
                <a:path h="306070" w="6402197">
                  <a:moveTo>
                    <a:pt x="0" y="0"/>
                  </a:moveTo>
                  <a:lnTo>
                    <a:pt x="6402197" y="0"/>
                  </a:lnTo>
                  <a:lnTo>
                    <a:pt x="6402197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4" r="0" b="-37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78802" y="4651591"/>
            <a:ext cx="1955054" cy="38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003" spc="-80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Spike risk (15 min)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82840" y="5138033"/>
            <a:ext cx="4801695" cy="229572"/>
            <a:chOff x="0" y="0"/>
            <a:chExt cx="6402260" cy="3060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02197" cy="306070"/>
            </a:xfrm>
            <a:custGeom>
              <a:avLst/>
              <a:gdLst/>
              <a:ahLst/>
              <a:cxnLst/>
              <a:rect r="r" b="b" t="t" l="l"/>
              <a:pathLst>
                <a:path h="306070" w="6402197">
                  <a:moveTo>
                    <a:pt x="0" y="0"/>
                  </a:moveTo>
                  <a:lnTo>
                    <a:pt x="6402197" y="0"/>
                  </a:lnTo>
                  <a:lnTo>
                    <a:pt x="6402197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4" r="0" b="-3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2840" y="5564381"/>
            <a:ext cx="4801695" cy="229572"/>
            <a:chOff x="0" y="0"/>
            <a:chExt cx="6402260" cy="3060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02197" cy="306070"/>
            </a:xfrm>
            <a:custGeom>
              <a:avLst/>
              <a:gdLst/>
              <a:ahLst/>
              <a:cxnLst/>
              <a:rect r="r" b="b" t="t" l="l"/>
              <a:pathLst>
                <a:path h="306070" w="6402197">
                  <a:moveTo>
                    <a:pt x="0" y="0"/>
                  </a:moveTo>
                  <a:lnTo>
                    <a:pt x="6402197" y="0"/>
                  </a:lnTo>
                  <a:lnTo>
                    <a:pt x="6402197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4" r="0" b="-37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82516" y="5811279"/>
            <a:ext cx="1583893" cy="38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003" spc="-80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Predicted peak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82840" y="6209367"/>
            <a:ext cx="4801695" cy="229572"/>
            <a:chOff x="0" y="0"/>
            <a:chExt cx="6402260" cy="3060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02197" cy="306070"/>
            </a:xfrm>
            <a:custGeom>
              <a:avLst/>
              <a:gdLst/>
              <a:ahLst/>
              <a:cxnLst/>
              <a:rect r="r" b="b" t="t" l="l"/>
              <a:pathLst>
                <a:path h="306070" w="6402197">
                  <a:moveTo>
                    <a:pt x="0" y="0"/>
                  </a:moveTo>
                  <a:lnTo>
                    <a:pt x="6402197" y="0"/>
                  </a:lnTo>
                  <a:lnTo>
                    <a:pt x="6402197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4" r="0" b="-37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79859" y="6383588"/>
            <a:ext cx="1849336" cy="38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003" spc="-80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Suggested action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82840" y="6854352"/>
            <a:ext cx="4801695" cy="218637"/>
            <a:chOff x="0" y="0"/>
            <a:chExt cx="6402260" cy="2915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02197" cy="291465"/>
            </a:xfrm>
            <a:custGeom>
              <a:avLst/>
              <a:gdLst/>
              <a:ahLst/>
              <a:cxnLst/>
              <a:rect r="r" b="b" t="t" l="l"/>
              <a:pathLst>
                <a:path h="291465" w="6402197">
                  <a:moveTo>
                    <a:pt x="0" y="0"/>
                  </a:moveTo>
                  <a:lnTo>
                    <a:pt x="6402197" y="0"/>
                  </a:lnTo>
                  <a:lnTo>
                    <a:pt x="6402197" y="291465"/>
                  </a:lnTo>
                  <a:lnTo>
                    <a:pt x="0" y="291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6" r="0" b="-47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86212" y="6955898"/>
            <a:ext cx="1214380" cy="38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003" spc="-80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Confidence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113724" y="5811279"/>
            <a:ext cx="1179690" cy="38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b="true" sz="2003" spc="-80">
                <a:solidFill>
                  <a:srgbClr val="00B7D1"/>
                </a:solidFill>
                <a:latin typeface="Heebo Bold"/>
                <a:ea typeface="Heebo Bold"/>
                <a:cs typeface="Heebo Bold"/>
                <a:sym typeface="Heebo Bold"/>
              </a:rPr>
              <a:t>212 mg/dL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113695" y="6383588"/>
            <a:ext cx="1182233" cy="38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b="true" sz="2003" spc="-80">
                <a:solidFill>
                  <a:srgbClr val="00B7D1"/>
                </a:solidFill>
                <a:latin typeface="Heebo Bold"/>
                <a:ea typeface="Heebo Bold"/>
                <a:cs typeface="Heebo Bold"/>
                <a:sym typeface="Heebo Bold"/>
              </a:rPr>
              <a:t>+2U insulin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311113" y="2776728"/>
            <a:ext cx="6322047" cy="4941256"/>
            <a:chOff x="0" y="0"/>
            <a:chExt cx="8429396" cy="658834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429371" cy="6588379"/>
            </a:xfrm>
            <a:custGeom>
              <a:avLst/>
              <a:gdLst/>
              <a:ahLst/>
              <a:cxnLst/>
              <a:rect r="r" b="b" t="t" l="l"/>
              <a:pathLst>
                <a:path h="6588379" w="8429371">
                  <a:moveTo>
                    <a:pt x="0" y="0"/>
                  </a:moveTo>
                  <a:lnTo>
                    <a:pt x="8429371" y="0"/>
                  </a:lnTo>
                  <a:lnTo>
                    <a:pt x="8429371" y="6588379"/>
                  </a:lnTo>
                  <a:lnTo>
                    <a:pt x="0" y="6588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6" r="0" b="-26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142893" y="3175625"/>
            <a:ext cx="3657257" cy="38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b="true" sz="2003" spc="-80">
                <a:solidFill>
                  <a:srgbClr val="00B7D1"/>
                </a:solidFill>
                <a:latin typeface="Heebo Bold"/>
                <a:ea typeface="Heebo Bold"/>
                <a:cs typeface="Heebo Bold"/>
                <a:sym typeface="Heebo Bold"/>
              </a:rPr>
              <a:t>SYNTHETIC CONFUSION MATRIX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60569" y="3627453"/>
            <a:ext cx="1028224" cy="38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b="true" sz="2003" spc="-80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Predicted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268976" y="4493047"/>
            <a:ext cx="3926672" cy="2798588"/>
            <a:chOff x="0" y="0"/>
            <a:chExt cx="5235562" cy="37314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235575" cy="3731514"/>
            </a:xfrm>
            <a:custGeom>
              <a:avLst/>
              <a:gdLst/>
              <a:ahLst/>
              <a:cxnLst/>
              <a:rect r="r" b="b" t="t" l="l"/>
              <a:pathLst>
                <a:path h="3731514" w="5235575">
                  <a:moveTo>
                    <a:pt x="0" y="0"/>
                  </a:moveTo>
                  <a:lnTo>
                    <a:pt x="5235575" y="0"/>
                  </a:lnTo>
                  <a:lnTo>
                    <a:pt x="5235575" y="3731514"/>
                  </a:lnTo>
                  <a:lnTo>
                    <a:pt x="0" y="3731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6" r="0" b="-24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840976" y="2776728"/>
            <a:ext cx="229695" cy="1082269"/>
            <a:chOff x="0" y="0"/>
            <a:chExt cx="306260" cy="14430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06197" cy="1442974"/>
            </a:xfrm>
            <a:custGeom>
              <a:avLst/>
              <a:gdLst/>
              <a:ahLst/>
              <a:cxnLst/>
              <a:rect r="r" b="b" t="t" l="l"/>
              <a:pathLst>
                <a:path h="1442974" w="306197">
                  <a:moveTo>
                    <a:pt x="0" y="0"/>
                  </a:moveTo>
                  <a:lnTo>
                    <a:pt x="306197" y="0"/>
                  </a:lnTo>
                  <a:lnTo>
                    <a:pt x="306197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26" r="-20" b="-29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840976" y="2776728"/>
            <a:ext cx="4801695" cy="1082269"/>
            <a:chOff x="0" y="0"/>
            <a:chExt cx="6402260" cy="144302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02197" cy="1442974"/>
            </a:xfrm>
            <a:custGeom>
              <a:avLst/>
              <a:gdLst/>
              <a:ahLst/>
              <a:cxnLst/>
              <a:rect r="r" b="b" t="t" l="l"/>
              <a:pathLst>
                <a:path h="1442974" w="6402197">
                  <a:moveTo>
                    <a:pt x="0" y="0"/>
                  </a:moveTo>
                  <a:lnTo>
                    <a:pt x="6402197" y="0"/>
                  </a:lnTo>
                  <a:lnTo>
                    <a:pt x="6402197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26" r="0" b="-29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059727" y="2971048"/>
            <a:ext cx="4145423" cy="680237"/>
            <a:chOff x="0" y="0"/>
            <a:chExt cx="5527230" cy="906983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600888"/>
              <a:ext cx="5527230" cy="306095"/>
              <a:chOff x="0" y="0"/>
              <a:chExt cx="5527230" cy="30609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5527294" cy="306070"/>
              </a:xfrm>
              <a:custGeom>
                <a:avLst/>
                <a:gdLst/>
                <a:ahLst/>
                <a:cxnLst/>
                <a:rect r="r" b="b" t="t" l="l"/>
                <a:pathLst>
                  <a:path h="306070" w="5527294">
                    <a:moveTo>
                      <a:pt x="0" y="0"/>
                    </a:moveTo>
                    <a:lnTo>
                      <a:pt x="5527294" y="0"/>
                    </a:lnTo>
                    <a:lnTo>
                      <a:pt x="5527294" y="306070"/>
                    </a:lnTo>
                    <a:lnTo>
                      <a:pt x="0" y="30607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l="0" t="-24" r="1" b="-37"/>
                </a:stretch>
              </a:blipFill>
            </p:spPr>
          </p:sp>
        </p:grpSp>
        <p:sp>
          <p:nvSpPr>
            <p:cNvPr name="TextBox 42" id="42"/>
            <p:cNvSpPr txBox="true"/>
            <p:nvPr/>
          </p:nvSpPr>
          <p:spPr>
            <a:xfrm rot="0">
              <a:off x="4459338" y="76200"/>
              <a:ext cx="1033742" cy="482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41"/>
                </a:lnSpc>
              </a:pPr>
              <a:r>
                <a:rPr lang="en-US" b="true" sz="3341" spc="-132">
                  <a:solidFill>
                    <a:srgbClr val="00B7D1"/>
                  </a:solidFill>
                  <a:latin typeface="Heebo Bold"/>
                  <a:ea typeface="Heebo Bold"/>
                  <a:cs typeface="Heebo Bold"/>
                  <a:sym typeface="Heebo Bold"/>
                </a:rPr>
                <a:t>88%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840976" y="3848062"/>
            <a:ext cx="229695" cy="1300905"/>
            <a:chOff x="0" y="0"/>
            <a:chExt cx="306260" cy="173454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6197" cy="1734566"/>
            </a:xfrm>
            <a:custGeom>
              <a:avLst/>
              <a:gdLst/>
              <a:ahLst/>
              <a:cxnLst/>
              <a:rect r="r" b="b" t="t" l="l"/>
              <a:pathLst>
                <a:path h="1734566" w="306197">
                  <a:moveTo>
                    <a:pt x="0" y="0"/>
                  </a:moveTo>
                  <a:lnTo>
                    <a:pt x="306197" y="0"/>
                  </a:lnTo>
                  <a:lnTo>
                    <a:pt x="306197" y="1734566"/>
                  </a:lnTo>
                  <a:lnTo>
                    <a:pt x="0" y="1734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26" r="-20" b="-25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840976" y="3848062"/>
            <a:ext cx="4801695" cy="1300905"/>
            <a:chOff x="0" y="0"/>
            <a:chExt cx="6402260" cy="173454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402197" cy="1734566"/>
            </a:xfrm>
            <a:custGeom>
              <a:avLst/>
              <a:gdLst/>
              <a:ahLst/>
              <a:cxnLst/>
              <a:rect r="r" b="b" t="t" l="l"/>
              <a:pathLst>
                <a:path h="1734566" w="6402197">
                  <a:moveTo>
                    <a:pt x="0" y="0"/>
                  </a:moveTo>
                  <a:lnTo>
                    <a:pt x="6402197" y="0"/>
                  </a:lnTo>
                  <a:lnTo>
                    <a:pt x="6402197" y="1734566"/>
                  </a:lnTo>
                  <a:lnTo>
                    <a:pt x="0" y="1734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26" r="0" b="-25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059727" y="4190971"/>
            <a:ext cx="4145423" cy="739359"/>
            <a:chOff x="0" y="0"/>
            <a:chExt cx="5527230" cy="985812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402768"/>
              <a:ext cx="5527230" cy="583044"/>
              <a:chOff x="0" y="0"/>
              <a:chExt cx="5527230" cy="583044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5527294" cy="583057"/>
              </a:xfrm>
              <a:custGeom>
                <a:avLst/>
                <a:gdLst/>
                <a:ahLst/>
                <a:cxnLst/>
                <a:rect r="r" b="b" t="t" l="l"/>
                <a:pathLst>
                  <a:path h="583057" w="5527294">
                    <a:moveTo>
                      <a:pt x="0" y="0"/>
                    </a:moveTo>
                    <a:lnTo>
                      <a:pt x="5527294" y="0"/>
                    </a:lnTo>
                    <a:lnTo>
                      <a:pt x="5527294" y="583057"/>
                    </a:lnTo>
                    <a:lnTo>
                      <a:pt x="0" y="58305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8"/>
                <a:stretch>
                  <a:fillRect l="0" t="-26" r="1" b="-23"/>
                </a:stretch>
              </a:blipFill>
            </p:spPr>
          </p:sp>
        </p:grpSp>
        <p:sp>
          <p:nvSpPr>
            <p:cNvPr name="TextBox 50" id="50"/>
            <p:cNvSpPr txBox="true"/>
            <p:nvPr/>
          </p:nvSpPr>
          <p:spPr>
            <a:xfrm rot="0">
              <a:off x="4459338" y="76200"/>
              <a:ext cx="1033742" cy="482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41"/>
                </a:lnSpc>
              </a:pPr>
              <a:r>
                <a:rPr lang="en-US" b="true" sz="3341" spc="-132">
                  <a:solidFill>
                    <a:srgbClr val="00B7D1"/>
                  </a:solidFill>
                  <a:latin typeface="Heebo Bold"/>
                  <a:ea typeface="Heebo Bold"/>
                  <a:cs typeface="Heebo Bold"/>
                  <a:sym typeface="Heebo Bold"/>
                </a:rPr>
                <a:t>70%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840976" y="5138033"/>
            <a:ext cx="229695" cy="1300905"/>
            <a:chOff x="0" y="0"/>
            <a:chExt cx="306260" cy="173454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06197" cy="1734566"/>
            </a:xfrm>
            <a:custGeom>
              <a:avLst/>
              <a:gdLst/>
              <a:ahLst/>
              <a:cxnLst/>
              <a:rect r="r" b="b" t="t" l="l"/>
              <a:pathLst>
                <a:path h="1734566" w="306197">
                  <a:moveTo>
                    <a:pt x="0" y="0"/>
                  </a:moveTo>
                  <a:lnTo>
                    <a:pt x="306197" y="0"/>
                  </a:lnTo>
                  <a:lnTo>
                    <a:pt x="306197" y="1734566"/>
                  </a:lnTo>
                  <a:lnTo>
                    <a:pt x="0" y="1734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26" r="-20" b="-25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840976" y="5138033"/>
            <a:ext cx="4801695" cy="1300905"/>
            <a:chOff x="0" y="0"/>
            <a:chExt cx="6402260" cy="173454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402197" cy="1734566"/>
            </a:xfrm>
            <a:custGeom>
              <a:avLst/>
              <a:gdLst/>
              <a:ahLst/>
              <a:cxnLst/>
              <a:rect r="r" b="b" t="t" l="l"/>
              <a:pathLst>
                <a:path h="1734566" w="6402197">
                  <a:moveTo>
                    <a:pt x="0" y="0"/>
                  </a:moveTo>
                  <a:lnTo>
                    <a:pt x="6402197" y="0"/>
                  </a:lnTo>
                  <a:lnTo>
                    <a:pt x="6402197" y="1734566"/>
                  </a:lnTo>
                  <a:lnTo>
                    <a:pt x="0" y="1734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26" r="0" b="-25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059727" y="5395836"/>
            <a:ext cx="4145423" cy="824465"/>
            <a:chOff x="0" y="0"/>
            <a:chExt cx="5527230" cy="1099287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0" y="516242"/>
              <a:ext cx="5527230" cy="583044"/>
              <a:chOff x="0" y="0"/>
              <a:chExt cx="5527230" cy="583044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5527294" cy="583057"/>
              </a:xfrm>
              <a:custGeom>
                <a:avLst/>
                <a:gdLst/>
                <a:ahLst/>
                <a:cxnLst/>
                <a:rect r="r" b="b" t="t" l="l"/>
                <a:pathLst>
                  <a:path h="583057" w="5527294">
                    <a:moveTo>
                      <a:pt x="0" y="0"/>
                    </a:moveTo>
                    <a:lnTo>
                      <a:pt x="5527294" y="0"/>
                    </a:lnTo>
                    <a:lnTo>
                      <a:pt x="5527294" y="583057"/>
                    </a:lnTo>
                    <a:lnTo>
                      <a:pt x="0" y="58305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1"/>
                <a:stretch>
                  <a:fillRect l="0" t="-26" r="1" b="-23"/>
                </a:stretch>
              </a:blipFill>
            </p:spPr>
          </p:sp>
        </p:grpSp>
        <p:sp>
          <p:nvSpPr>
            <p:cNvPr name="TextBox 58" id="58"/>
            <p:cNvSpPr txBox="true"/>
            <p:nvPr/>
          </p:nvSpPr>
          <p:spPr>
            <a:xfrm rot="0">
              <a:off x="4459338" y="76200"/>
              <a:ext cx="1033742" cy="482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41"/>
                </a:lnSpc>
              </a:pPr>
              <a:r>
                <a:rPr lang="en-US" b="true" sz="3341" spc="-132">
                  <a:solidFill>
                    <a:srgbClr val="00B7D1"/>
                  </a:solidFill>
                  <a:latin typeface="Heebo Bold"/>
                  <a:ea typeface="Heebo Bold"/>
                  <a:cs typeface="Heebo Bold"/>
                  <a:sym typeface="Heebo Bold"/>
                </a:rPr>
                <a:t>81%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840976" y="6428013"/>
            <a:ext cx="229695" cy="1289971"/>
            <a:chOff x="0" y="0"/>
            <a:chExt cx="306260" cy="171996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06197" cy="1719961"/>
            </a:xfrm>
            <a:custGeom>
              <a:avLst/>
              <a:gdLst/>
              <a:ahLst/>
              <a:cxnLst/>
              <a:rect r="r" b="b" t="t" l="l"/>
              <a:pathLst>
                <a:path h="1719961" w="306197">
                  <a:moveTo>
                    <a:pt x="0" y="0"/>
                  </a:moveTo>
                  <a:lnTo>
                    <a:pt x="306197" y="0"/>
                  </a:lnTo>
                  <a:lnTo>
                    <a:pt x="306197" y="1719961"/>
                  </a:lnTo>
                  <a:lnTo>
                    <a:pt x="0" y="1719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26" r="-20" b="-27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840976" y="6428013"/>
            <a:ext cx="4801695" cy="1289971"/>
            <a:chOff x="0" y="0"/>
            <a:chExt cx="6402260" cy="171996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402197" cy="1719961"/>
            </a:xfrm>
            <a:custGeom>
              <a:avLst/>
              <a:gdLst/>
              <a:ahLst/>
              <a:cxnLst/>
              <a:rect r="r" b="b" t="t" l="l"/>
              <a:pathLst>
                <a:path h="1719961" w="6402197">
                  <a:moveTo>
                    <a:pt x="0" y="0"/>
                  </a:moveTo>
                  <a:lnTo>
                    <a:pt x="6402197" y="0"/>
                  </a:lnTo>
                  <a:lnTo>
                    <a:pt x="6402197" y="1719961"/>
                  </a:lnTo>
                  <a:lnTo>
                    <a:pt x="0" y="1719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26" r="0" b="-26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3059727" y="6660947"/>
            <a:ext cx="4145423" cy="630688"/>
            <a:chOff x="0" y="0"/>
            <a:chExt cx="5527230" cy="840918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0" y="534822"/>
              <a:ext cx="5527230" cy="306095"/>
              <a:chOff x="0" y="0"/>
              <a:chExt cx="5527230" cy="306095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5527294" cy="306070"/>
              </a:xfrm>
              <a:custGeom>
                <a:avLst/>
                <a:gdLst/>
                <a:ahLst/>
                <a:cxnLst/>
                <a:rect r="r" b="b" t="t" l="l"/>
                <a:pathLst>
                  <a:path h="306070" w="5527294">
                    <a:moveTo>
                      <a:pt x="0" y="0"/>
                    </a:moveTo>
                    <a:lnTo>
                      <a:pt x="5527294" y="0"/>
                    </a:lnTo>
                    <a:lnTo>
                      <a:pt x="5527294" y="306070"/>
                    </a:lnTo>
                    <a:lnTo>
                      <a:pt x="0" y="30607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4"/>
                <a:stretch>
                  <a:fillRect l="0" t="-24" r="1" b="-37"/>
                </a:stretch>
              </a:blipFill>
            </p:spPr>
          </p:sp>
        </p:grpSp>
        <p:sp>
          <p:nvSpPr>
            <p:cNvPr name="TextBox 66" id="66"/>
            <p:cNvSpPr txBox="true"/>
            <p:nvPr/>
          </p:nvSpPr>
          <p:spPr>
            <a:xfrm rot="0">
              <a:off x="4405808" y="76200"/>
              <a:ext cx="1087818" cy="482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41"/>
                </a:lnSpc>
              </a:pPr>
              <a:r>
                <a:rPr lang="en-US" b="true" sz="3341" spc="-132">
                  <a:solidFill>
                    <a:srgbClr val="00B7D1"/>
                  </a:solidFill>
                  <a:latin typeface="Heebo Bold"/>
                  <a:ea typeface="Heebo Bold"/>
                  <a:cs typeface="Heebo Bold"/>
                  <a:sym typeface="Heebo Bold"/>
                </a:rPr>
                <a:t>0.84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45328" y="7925695"/>
            <a:ext cx="8717423" cy="1508617"/>
            <a:chOff x="0" y="0"/>
            <a:chExt cx="11623230" cy="201149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623294" cy="2011426"/>
            </a:xfrm>
            <a:custGeom>
              <a:avLst/>
              <a:gdLst/>
              <a:ahLst/>
              <a:cxnLst/>
              <a:rect r="r" b="b" t="t" l="l"/>
              <a:pathLst>
                <a:path h="2011426" w="11623294">
                  <a:moveTo>
                    <a:pt x="0" y="0"/>
                  </a:moveTo>
                  <a:lnTo>
                    <a:pt x="11623294" y="0"/>
                  </a:lnTo>
                  <a:lnTo>
                    <a:pt x="11623294" y="2011426"/>
                  </a:lnTo>
                  <a:lnTo>
                    <a:pt x="0" y="2011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-26" r="0" b="-29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301601" y="8133397"/>
            <a:ext cx="448447" cy="1082269"/>
            <a:chOff x="0" y="0"/>
            <a:chExt cx="597929" cy="144302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97916" cy="1442974"/>
            </a:xfrm>
            <a:custGeom>
              <a:avLst/>
              <a:gdLst/>
              <a:ahLst/>
              <a:cxnLst/>
              <a:rect r="r" b="b" t="t" l="l"/>
              <a:pathLst>
                <a:path h="1442974" w="597916">
                  <a:moveTo>
                    <a:pt x="0" y="0"/>
                  </a:moveTo>
                  <a:lnTo>
                    <a:pt x="597916" y="0"/>
                  </a:lnTo>
                  <a:lnTo>
                    <a:pt x="597916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-26" r="-2" b="-29"/>
              </a:stretch>
            </a:blip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2109083" y="8194910"/>
            <a:ext cx="6082827" cy="836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b="true" sz="2408" spc="-96">
                <a:solidFill>
                  <a:srgbClr val="E8645B"/>
                </a:solidFill>
                <a:latin typeface="Heebo Bold"/>
                <a:ea typeface="Heebo Bold"/>
                <a:cs typeface="Heebo Bold"/>
                <a:sym typeface="Heebo Bold"/>
              </a:rPr>
              <a:t>+2U insulin is a synthetic fixture for testing only.</a:t>
            </a:r>
          </a:p>
          <a:p>
            <a:pPr algn="l">
              <a:lnSpc>
                <a:spcPts val="3371"/>
              </a:lnSpc>
            </a:pPr>
            <a:r>
              <a:rPr lang="en-US" b="true" sz="2408" spc="-96">
                <a:solidFill>
                  <a:srgbClr val="E8645B"/>
                </a:solidFill>
                <a:latin typeface="Heebo Bold"/>
                <a:ea typeface="Heebo Bold"/>
                <a:cs typeface="Heebo Bold"/>
                <a:sym typeface="Heebo Bold"/>
              </a:rPr>
              <a:t>This is not treatment advice.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108759" y="8194910"/>
            <a:ext cx="1750419" cy="836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b="true" sz="2408" spc="-96">
                <a:solidFill>
                  <a:srgbClr val="00B7D1"/>
                </a:solidFill>
                <a:latin typeface="Heebo Bold"/>
                <a:ea typeface="Heebo Bold"/>
                <a:cs typeface="Heebo Bold"/>
                <a:sym typeface="Heebo Bold"/>
              </a:rPr>
              <a:t>300 </a:t>
            </a:r>
            <a:r>
              <a:rPr lang="en-US" b="true" sz="2408" spc="-96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synthetic</a:t>
            </a:r>
          </a:p>
          <a:p>
            <a:pPr algn="l">
              <a:lnSpc>
                <a:spcPts val="3371"/>
              </a:lnSpc>
            </a:pPr>
            <a:r>
              <a:rPr lang="en-US" b="true" sz="2408" spc="-96">
                <a:solidFill>
                  <a:srgbClr val="00B7D1"/>
                </a:solidFill>
                <a:latin typeface="Heebo Bold"/>
                <a:ea typeface="Heebo Bold"/>
                <a:cs typeface="Heebo Bold"/>
                <a:sym typeface="Heebo Bold"/>
              </a:rPr>
              <a:t>test </a:t>
            </a:r>
            <a:r>
              <a:rPr lang="en-US" b="true" sz="2408" spc="-96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windows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233797" y="2887466"/>
            <a:ext cx="2678906" cy="430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50" spc="-89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Sensitivity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3233797" y="4107390"/>
            <a:ext cx="2678906" cy="430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50" spc="-89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Specificity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084545" y="5223901"/>
            <a:ext cx="1380458" cy="38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003" spc="-80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Time to peak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179469" y="6351461"/>
            <a:ext cx="2678906" cy="430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50" spc="-89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No spike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599087" y="4034095"/>
            <a:ext cx="937889" cy="38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b="true" sz="2003" spc="-80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No spike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3233797" y="5327323"/>
            <a:ext cx="2678906" cy="430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50" spc="-89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Precision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233797" y="6607493"/>
            <a:ext cx="2678906" cy="430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b="true" sz="2250" spc="-89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F1 score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8925354" y="5085150"/>
            <a:ext cx="2442648" cy="1818208"/>
            <a:chOff x="0" y="0"/>
            <a:chExt cx="3256864" cy="2424278"/>
          </a:xfrm>
        </p:grpSpPr>
        <p:sp>
          <p:nvSpPr>
            <p:cNvPr name="TextBox 81" id="81"/>
            <p:cNvSpPr txBox="true"/>
            <p:nvPr/>
          </p:nvSpPr>
          <p:spPr>
            <a:xfrm rot="0">
              <a:off x="0" y="66675"/>
              <a:ext cx="1055738" cy="59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58"/>
                </a:lnSpc>
              </a:pPr>
              <a:r>
                <a:rPr lang="en-US" b="true" sz="3758" spc="-149">
                  <a:solidFill>
                    <a:srgbClr val="00B7D1"/>
                  </a:solidFill>
                  <a:latin typeface="Heebo Bold"/>
                  <a:ea typeface="Heebo Bold"/>
                  <a:cs typeface="Heebo Bold"/>
                  <a:sym typeface="Heebo Bold"/>
                </a:rPr>
                <a:t>198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0">
              <a:off x="2553030" y="66675"/>
              <a:ext cx="703834" cy="59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58"/>
                </a:lnSpc>
              </a:pPr>
              <a:r>
                <a:rPr lang="en-US" b="true" sz="3758" spc="-149">
                  <a:solidFill>
                    <a:srgbClr val="00B7D1"/>
                  </a:solidFill>
                  <a:latin typeface="Heebo Bold"/>
                  <a:ea typeface="Heebo Bold"/>
                  <a:cs typeface="Heebo Bold"/>
                  <a:sym typeface="Heebo Bold"/>
                </a:rPr>
                <a:t>22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0">
              <a:off x="175959" y="1833816"/>
              <a:ext cx="703834" cy="59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58"/>
                </a:lnSpc>
              </a:pPr>
              <a:r>
                <a:rPr lang="en-US" b="true" sz="3758" spc="-149">
                  <a:solidFill>
                    <a:srgbClr val="00B7D1"/>
                  </a:solidFill>
                  <a:latin typeface="Heebo Bold"/>
                  <a:ea typeface="Heebo Bold"/>
                  <a:cs typeface="Heebo Bold"/>
                  <a:sym typeface="Heebo Bold"/>
                </a:rPr>
                <a:t>28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0">
              <a:off x="2553030" y="1833816"/>
              <a:ext cx="703834" cy="5904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58"/>
                </a:lnSpc>
              </a:pPr>
              <a:r>
                <a:rPr lang="en-US" b="true" sz="3758" spc="-149">
                  <a:solidFill>
                    <a:srgbClr val="00B7D1"/>
                  </a:solidFill>
                  <a:latin typeface="Heebo Bold"/>
                  <a:ea typeface="Heebo Bold"/>
                  <a:cs typeface="Heebo Bold"/>
                  <a:sym typeface="Heebo Bold"/>
                </a:rPr>
                <a:t>52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7360930" y="5028114"/>
            <a:ext cx="605857" cy="38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b="true" sz="2003" spc="-80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Spike</a:t>
            </a:r>
          </a:p>
        </p:txBody>
      </p:sp>
      <p:sp>
        <p:nvSpPr>
          <p:cNvPr name="TextBox 86" id="86"/>
          <p:cNvSpPr txBox="true"/>
          <p:nvPr/>
        </p:nvSpPr>
        <p:spPr>
          <a:xfrm rot="-5400000">
            <a:off x="5687302" y="5450252"/>
            <a:ext cx="2250281" cy="430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b="true" sz="2250" spc="-89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Actual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4118153" y="5223901"/>
            <a:ext cx="736606" cy="38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b="true" sz="2003" spc="-80">
                <a:solidFill>
                  <a:srgbClr val="00B7D1"/>
                </a:solidFill>
                <a:latin typeface="Heebo Bold"/>
                <a:ea typeface="Heebo Bold"/>
                <a:cs typeface="Heebo Bold"/>
                <a:sym typeface="Heebo Bold"/>
              </a:rPr>
              <a:t>32 min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021966" y="4034095"/>
            <a:ext cx="594798" cy="38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b="true" sz="2003" spc="-80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Spike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4120486" y="6955898"/>
            <a:ext cx="502425" cy="38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b="true" sz="2003" spc="-80">
                <a:solidFill>
                  <a:srgbClr val="00B7D1"/>
                </a:solidFill>
                <a:latin typeface="Heebo Bold"/>
                <a:ea typeface="Heebo Bold"/>
                <a:cs typeface="Heebo Bold"/>
                <a:sym typeface="Heebo Bold"/>
              </a:rPr>
              <a:t>High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4120753" y="4651591"/>
            <a:ext cx="475869" cy="38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b="true" sz="2003" spc="-80">
                <a:solidFill>
                  <a:srgbClr val="00B7D1"/>
                </a:solidFill>
                <a:latin typeface="Heebo Bold"/>
                <a:ea typeface="Heebo Bold"/>
                <a:cs typeface="Heebo Bold"/>
                <a:sym typeface="Heebo Bold"/>
              </a:rPr>
              <a:t>0.86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98577" y="8133397"/>
            <a:ext cx="13289423" cy="2153602"/>
            <a:chOff x="0" y="0"/>
            <a:chExt cx="17719230" cy="28714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19294" cy="2871470"/>
            </a:xfrm>
            <a:custGeom>
              <a:avLst/>
              <a:gdLst/>
              <a:ahLst/>
              <a:cxnLst/>
              <a:rect r="r" b="b" t="t" l="l"/>
              <a:pathLst>
                <a:path h="2871470" w="17719294">
                  <a:moveTo>
                    <a:pt x="0" y="0"/>
                  </a:moveTo>
                  <a:lnTo>
                    <a:pt x="17719294" y="0"/>
                  </a:lnTo>
                  <a:lnTo>
                    <a:pt x="17719294" y="2871470"/>
                  </a:lnTo>
                  <a:lnTo>
                    <a:pt x="0" y="2871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84587" y="541849"/>
            <a:ext cx="11193180" cy="104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1"/>
              </a:lnSpc>
            </a:pPr>
            <a:r>
              <a:rPr lang="en-US" b="true" sz="7329" spc="-365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Impact, Limits and next steps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45328" y="1705394"/>
            <a:ext cx="1750047" cy="229572"/>
            <a:chOff x="0" y="0"/>
            <a:chExt cx="2333396" cy="3060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33371" cy="306070"/>
            </a:xfrm>
            <a:custGeom>
              <a:avLst/>
              <a:gdLst/>
              <a:ahLst/>
              <a:cxnLst/>
              <a:rect r="r" b="b" t="t" l="l"/>
              <a:pathLst>
                <a:path h="306070" w="2333371">
                  <a:moveTo>
                    <a:pt x="0" y="0"/>
                  </a:moveTo>
                  <a:lnTo>
                    <a:pt x="2333371" y="0"/>
                  </a:lnTo>
                  <a:lnTo>
                    <a:pt x="2333371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" r="-1" b="-3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45328" y="2142668"/>
            <a:ext cx="5020447" cy="7717984"/>
            <a:chOff x="0" y="0"/>
            <a:chExt cx="6693929" cy="102906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93916" cy="10290683"/>
            </a:xfrm>
            <a:custGeom>
              <a:avLst/>
              <a:gdLst/>
              <a:ahLst/>
              <a:cxnLst/>
              <a:rect r="r" b="b" t="t" l="l"/>
              <a:pathLst>
                <a:path h="10290683" w="6693916">
                  <a:moveTo>
                    <a:pt x="0" y="0"/>
                  </a:moveTo>
                  <a:lnTo>
                    <a:pt x="6693916" y="0"/>
                  </a:lnTo>
                  <a:lnTo>
                    <a:pt x="6693916" y="10290683"/>
                  </a:lnTo>
                  <a:lnTo>
                    <a:pt x="0" y="10290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" r="0" b="-2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62142" y="2588028"/>
            <a:ext cx="3621138" cy="38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b="true" sz="2018" spc="-60">
                <a:solidFill>
                  <a:srgbClr val="0DAAB2"/>
                </a:solidFill>
                <a:latin typeface="Heebo Bold"/>
                <a:ea typeface="Heebo Bold"/>
                <a:cs typeface="Heebo Bold"/>
                <a:sym typeface="Heebo Bold"/>
              </a:rPr>
              <a:t>FOUR STAKEHOLDER BENEFITS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3429" y="3227508"/>
            <a:ext cx="2492369" cy="544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6"/>
              </a:lnSpc>
            </a:pPr>
            <a:r>
              <a:rPr lang="en-US" b="true" sz="2783" spc="-81">
                <a:solidFill>
                  <a:srgbClr val="0DAAB2"/>
                </a:solidFill>
                <a:latin typeface="Heebo Bold"/>
                <a:ea typeface="Heebo Bold"/>
                <a:cs typeface="Heebo Bold"/>
                <a:sym typeface="Heebo Bold"/>
              </a:rPr>
              <a:t>Better decisions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8356" y="3767195"/>
            <a:ext cx="4018359" cy="80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226" spc="-65">
                <a:solidFill>
                  <a:srgbClr val="F8F8F8">
                    <a:alpha val="84314"/>
                  </a:srgbClr>
                </a:solidFill>
                <a:latin typeface="Heebo"/>
                <a:ea typeface="Heebo"/>
                <a:cs typeface="Heebo"/>
                <a:sym typeface="Heebo"/>
              </a:rPr>
              <a:t>See risk earlier and act with </a:t>
            </a:r>
          </a:p>
          <a:p>
            <a:pPr algn="l">
              <a:lnSpc>
                <a:spcPts val="3229"/>
              </a:lnSpc>
            </a:pPr>
            <a:r>
              <a:rPr lang="en-US" sz="2226" spc="-65">
                <a:solidFill>
                  <a:srgbClr val="F8F8F8">
                    <a:alpha val="84314"/>
                  </a:srgbClr>
                </a:solidFill>
                <a:latin typeface="Heebo"/>
                <a:ea typeface="Heebo"/>
                <a:cs typeface="Heebo"/>
                <a:sym typeface="Heebo"/>
              </a:rPr>
              <a:t>greater confidence.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2583" y="4748651"/>
            <a:ext cx="1576854" cy="544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6"/>
              </a:lnSpc>
            </a:pPr>
            <a:r>
              <a:rPr lang="en-US" b="true" sz="2783" spc="-81">
                <a:solidFill>
                  <a:srgbClr val="0DAAB2"/>
                </a:solidFill>
                <a:latin typeface="Heebo Bold"/>
                <a:ea typeface="Heebo Bold"/>
                <a:cs typeface="Heebo Bold"/>
                <a:sym typeface="Heebo Bold"/>
              </a:rPr>
              <a:t>Safer care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8356" y="5303396"/>
            <a:ext cx="4018359" cy="80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226" spc="-65">
                <a:solidFill>
                  <a:srgbClr val="F8F8F8">
                    <a:alpha val="84314"/>
                  </a:srgbClr>
                </a:solidFill>
                <a:latin typeface="Heebo"/>
                <a:ea typeface="Heebo"/>
                <a:cs typeface="Heebo"/>
                <a:sym typeface="Heebo"/>
              </a:rPr>
              <a:t>Prevent deterioration and reduce unnecessaryEscalations.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2923" y="6330039"/>
            <a:ext cx="3542890" cy="544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6"/>
              </a:lnSpc>
            </a:pPr>
            <a:r>
              <a:rPr lang="en-US" b="true" sz="2783" spc="-81">
                <a:solidFill>
                  <a:srgbClr val="0DAAB2"/>
                </a:solidFill>
                <a:latin typeface="Heebo Bold"/>
                <a:ea typeface="Heebo Bold"/>
                <a:cs typeface="Heebo Bold"/>
                <a:sym typeface="Heebo Bold"/>
              </a:rPr>
              <a:t>More efficient systems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8356" y="6869725"/>
            <a:ext cx="4018359" cy="80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226" spc="-65">
                <a:solidFill>
                  <a:srgbClr val="F8F8F8">
                    <a:alpha val="84314"/>
                  </a:srgbClr>
                </a:solidFill>
                <a:latin typeface="Heebo"/>
                <a:ea typeface="Heebo"/>
                <a:cs typeface="Heebo"/>
                <a:sym typeface="Heebo"/>
              </a:rPr>
              <a:t>Focus time and resources where impact is greatest.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2572" y="7926495"/>
            <a:ext cx="2577570" cy="544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6"/>
              </a:lnSpc>
            </a:pPr>
            <a:r>
              <a:rPr lang="en-US" b="true" sz="2783" spc="-81">
                <a:solidFill>
                  <a:srgbClr val="0DAAB2"/>
                </a:solidFill>
                <a:latin typeface="Heebo Bold"/>
                <a:ea typeface="Heebo Bold"/>
                <a:cs typeface="Heebo Bold"/>
                <a:sym typeface="Heebo Bold"/>
              </a:rPr>
              <a:t>Clearer evidence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8356" y="8451113"/>
            <a:ext cx="4018359" cy="80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226" spc="-65">
                <a:solidFill>
                  <a:srgbClr val="F8F8F8">
                    <a:alpha val="84314"/>
                  </a:srgbClr>
                </a:solidFill>
                <a:latin typeface="Heebo"/>
                <a:ea typeface="Heebo"/>
                <a:cs typeface="Heebo"/>
                <a:sym typeface="Heebo"/>
              </a:rPr>
              <a:t>Turn data into actionable insight that drives outcomes.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60970" y="2316937"/>
            <a:ext cx="2730417" cy="38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b="true" sz="2018" spc="-60">
                <a:solidFill>
                  <a:srgbClr val="0DAAB2"/>
                </a:solidFill>
                <a:latin typeface="Heebo Bold"/>
                <a:ea typeface="Heebo Bold"/>
                <a:cs typeface="Heebo Bold"/>
                <a:sym typeface="Heebo Bold"/>
              </a:rPr>
              <a:t>VALIDATION ROADMAP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092352" y="2776728"/>
            <a:ext cx="4145423" cy="2798588"/>
            <a:chOff x="0" y="0"/>
            <a:chExt cx="5527230" cy="37314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27294" cy="3731514"/>
            </a:xfrm>
            <a:custGeom>
              <a:avLst/>
              <a:gdLst/>
              <a:ahLst/>
              <a:cxnLst/>
              <a:rect r="r" b="b" t="t" l="l"/>
              <a:pathLst>
                <a:path h="3731514" w="5527294">
                  <a:moveTo>
                    <a:pt x="0" y="0"/>
                  </a:moveTo>
                  <a:lnTo>
                    <a:pt x="5527294" y="0"/>
                  </a:lnTo>
                  <a:lnTo>
                    <a:pt x="5527294" y="3731514"/>
                  </a:lnTo>
                  <a:lnTo>
                    <a:pt x="0" y="3731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" r="1" b="-24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471990" y="3144145"/>
            <a:ext cx="1096518" cy="74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7"/>
              </a:lnSpc>
            </a:pPr>
            <a:r>
              <a:rPr lang="en-US" b="true" sz="3845" spc="-114">
                <a:solidFill>
                  <a:srgbClr val="0DAAB2"/>
                </a:solidFill>
                <a:latin typeface="Heebo Bold"/>
                <a:ea typeface="Heebo Bold"/>
                <a:cs typeface="Heebo Bold"/>
                <a:sym typeface="Heebo Bold"/>
              </a:rPr>
              <a:t>NOW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482953" y="4008720"/>
            <a:ext cx="4018359" cy="41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b="true" sz="2226" spc="-65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Retrospective validation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82953" y="4444927"/>
            <a:ext cx="4018359" cy="80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226" spc="-65">
                <a:solidFill>
                  <a:srgbClr val="F8F8F8">
                    <a:alpha val="84314"/>
                  </a:srgbClr>
                </a:solidFill>
                <a:latin typeface="Heebo"/>
                <a:ea typeface="Heebo"/>
                <a:cs typeface="Heebo"/>
                <a:sym typeface="Heebo"/>
              </a:rPr>
              <a:t>Confirm performance using </a:t>
            </a:r>
          </a:p>
          <a:p>
            <a:pPr algn="l">
              <a:lnSpc>
                <a:spcPts val="3229"/>
              </a:lnSpc>
            </a:pPr>
            <a:r>
              <a:rPr lang="en-US" sz="2226" spc="-65">
                <a:solidFill>
                  <a:srgbClr val="F8F8F8">
                    <a:alpha val="84314"/>
                  </a:srgbClr>
                </a:solidFill>
                <a:latin typeface="Heebo"/>
                <a:ea typeface="Heebo"/>
                <a:cs typeface="Heebo"/>
                <a:sym typeface="Heebo"/>
              </a:rPr>
              <a:t>historical data.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570577" y="2776728"/>
            <a:ext cx="4582935" cy="2798588"/>
            <a:chOff x="0" y="0"/>
            <a:chExt cx="6110580" cy="37314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10605" cy="3731514"/>
            </a:xfrm>
            <a:custGeom>
              <a:avLst/>
              <a:gdLst/>
              <a:ahLst/>
              <a:cxnLst/>
              <a:rect r="r" b="b" t="t" l="l"/>
              <a:pathLst>
                <a:path h="3731514" w="6110605">
                  <a:moveTo>
                    <a:pt x="0" y="0"/>
                  </a:moveTo>
                  <a:lnTo>
                    <a:pt x="6110605" y="0"/>
                  </a:lnTo>
                  <a:lnTo>
                    <a:pt x="6110605" y="3731514"/>
                  </a:lnTo>
                  <a:lnTo>
                    <a:pt x="0" y="3731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6" r="0" b="-24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328500" y="3144145"/>
            <a:ext cx="1207941" cy="74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7"/>
              </a:lnSpc>
            </a:pPr>
            <a:r>
              <a:rPr lang="en-US" b="true" sz="3845" spc="-114">
                <a:solidFill>
                  <a:srgbClr val="0DAAB2"/>
                </a:solidFill>
                <a:latin typeface="Heebo Bold"/>
                <a:ea typeface="Heebo Bold"/>
                <a:cs typeface="Heebo Bold"/>
                <a:sym typeface="Heebo Bold"/>
              </a:rPr>
              <a:t>NEXT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40578" y="4444927"/>
            <a:ext cx="4018359" cy="80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226" spc="-65">
                <a:solidFill>
                  <a:srgbClr val="F8F8F8">
                    <a:alpha val="84314"/>
                  </a:srgbClr>
                </a:solidFill>
                <a:latin typeface="Heebo"/>
                <a:ea typeface="Heebo"/>
                <a:cs typeface="Heebo"/>
                <a:sym typeface="Heebo"/>
              </a:rPr>
              <a:t>Test in real time and validate </a:t>
            </a:r>
          </a:p>
          <a:p>
            <a:pPr algn="l">
              <a:lnSpc>
                <a:spcPts val="3229"/>
              </a:lnSpc>
            </a:pPr>
            <a:r>
              <a:rPr lang="en-US" sz="2226" spc="-65">
                <a:solidFill>
                  <a:srgbClr val="F8F8F8">
                    <a:alpha val="84314"/>
                  </a:srgbClr>
                </a:solidFill>
                <a:latin typeface="Heebo"/>
                <a:ea typeface="Heebo"/>
                <a:cs typeface="Heebo"/>
                <a:sym typeface="Heebo"/>
              </a:rPr>
              <a:t>clinical usefulness.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497239" y="2776728"/>
            <a:ext cx="4364184" cy="2798588"/>
            <a:chOff x="0" y="0"/>
            <a:chExt cx="5818911" cy="37314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18886" cy="3731514"/>
            </a:xfrm>
            <a:custGeom>
              <a:avLst/>
              <a:gdLst/>
              <a:ahLst/>
              <a:cxnLst/>
              <a:rect r="r" b="b" t="t" l="l"/>
              <a:pathLst>
                <a:path h="3731514" w="5818886">
                  <a:moveTo>
                    <a:pt x="0" y="0"/>
                  </a:moveTo>
                  <a:lnTo>
                    <a:pt x="5818886" y="0"/>
                  </a:lnTo>
                  <a:lnTo>
                    <a:pt x="5818886" y="3731514"/>
                  </a:lnTo>
                  <a:lnTo>
                    <a:pt x="0" y="3731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6" r="0" b="-24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4183706" y="3144145"/>
            <a:ext cx="1449915" cy="74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7"/>
              </a:lnSpc>
            </a:pPr>
            <a:r>
              <a:rPr lang="en-US" b="true" sz="3845" spc="-114">
                <a:solidFill>
                  <a:srgbClr val="0DAAB2"/>
                </a:solidFill>
                <a:latin typeface="Heebo Bold"/>
                <a:ea typeface="Heebo Bold"/>
                <a:cs typeface="Heebo Bold"/>
                <a:sym typeface="Heebo Bold"/>
              </a:rPr>
              <a:t>LATER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198203" y="4444927"/>
            <a:ext cx="4018359" cy="80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226" spc="-65">
                <a:solidFill>
                  <a:srgbClr val="F8F8F8">
                    <a:alpha val="84314"/>
                  </a:srgbClr>
                </a:solidFill>
                <a:latin typeface="Heebo"/>
                <a:ea typeface="Heebo"/>
                <a:cs typeface="Heebo"/>
                <a:sym typeface="Heebo"/>
              </a:rPr>
              <a:t>Broaden deployment and </a:t>
            </a:r>
          </a:p>
          <a:p>
            <a:pPr algn="l">
              <a:lnSpc>
                <a:spcPts val="3229"/>
              </a:lnSpc>
            </a:pPr>
            <a:r>
              <a:rPr lang="en-US" sz="2226" spc="-65">
                <a:solidFill>
                  <a:srgbClr val="F8F8F8">
                    <a:alpha val="84314"/>
                  </a:srgbClr>
                </a:solidFill>
                <a:latin typeface="Heebo"/>
                <a:ea typeface="Heebo"/>
                <a:cs typeface="Heebo"/>
                <a:sym typeface="Heebo"/>
              </a:rPr>
              <a:t>measure system impact.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393953" y="5356670"/>
            <a:ext cx="229695" cy="1289971"/>
            <a:chOff x="0" y="0"/>
            <a:chExt cx="306260" cy="171996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6197" cy="1719961"/>
            </a:xfrm>
            <a:custGeom>
              <a:avLst/>
              <a:gdLst/>
              <a:ahLst/>
              <a:cxnLst/>
              <a:rect r="r" b="b" t="t" l="l"/>
              <a:pathLst>
                <a:path h="1719961" w="306197">
                  <a:moveTo>
                    <a:pt x="0" y="0"/>
                  </a:moveTo>
                  <a:lnTo>
                    <a:pt x="306197" y="0"/>
                  </a:lnTo>
                  <a:lnTo>
                    <a:pt x="306197" y="1719961"/>
                  </a:lnTo>
                  <a:lnTo>
                    <a:pt x="0" y="1719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6" r="-20" b="-27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101864" y="5356670"/>
            <a:ext cx="229695" cy="1289971"/>
            <a:chOff x="0" y="0"/>
            <a:chExt cx="306260" cy="171996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6197" cy="1719961"/>
            </a:xfrm>
            <a:custGeom>
              <a:avLst/>
              <a:gdLst/>
              <a:ahLst/>
              <a:cxnLst/>
              <a:rect r="r" b="b" t="t" l="l"/>
              <a:pathLst>
                <a:path h="1719961" w="306197">
                  <a:moveTo>
                    <a:pt x="0" y="0"/>
                  </a:moveTo>
                  <a:lnTo>
                    <a:pt x="306197" y="0"/>
                  </a:lnTo>
                  <a:lnTo>
                    <a:pt x="306197" y="1719961"/>
                  </a:lnTo>
                  <a:lnTo>
                    <a:pt x="0" y="1719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6" r="-20" b="-27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017601" y="5356670"/>
            <a:ext cx="229695" cy="1289971"/>
            <a:chOff x="0" y="0"/>
            <a:chExt cx="306260" cy="171996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6197" cy="1719961"/>
            </a:xfrm>
            <a:custGeom>
              <a:avLst/>
              <a:gdLst/>
              <a:ahLst/>
              <a:cxnLst/>
              <a:rect r="r" b="b" t="t" l="l"/>
              <a:pathLst>
                <a:path h="1719961" w="306197">
                  <a:moveTo>
                    <a:pt x="0" y="0"/>
                  </a:moveTo>
                  <a:lnTo>
                    <a:pt x="306197" y="0"/>
                  </a:lnTo>
                  <a:lnTo>
                    <a:pt x="306197" y="1719961"/>
                  </a:lnTo>
                  <a:lnTo>
                    <a:pt x="0" y="1719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6" r="-20" b="-27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092352" y="6428013"/>
            <a:ext cx="11550320" cy="218637"/>
            <a:chOff x="0" y="0"/>
            <a:chExt cx="15400426" cy="2915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400401" cy="291465"/>
            </a:xfrm>
            <a:custGeom>
              <a:avLst/>
              <a:gdLst/>
              <a:ahLst/>
              <a:cxnLst/>
              <a:rect r="r" b="b" t="t" l="l"/>
              <a:pathLst>
                <a:path h="291465" w="15400401">
                  <a:moveTo>
                    <a:pt x="0" y="0"/>
                  </a:moveTo>
                  <a:lnTo>
                    <a:pt x="15400401" y="0"/>
                  </a:lnTo>
                  <a:lnTo>
                    <a:pt x="15400401" y="291465"/>
                  </a:lnTo>
                  <a:lnTo>
                    <a:pt x="0" y="291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6" r="0" b="-4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175192" y="6209367"/>
            <a:ext cx="667207" cy="655920"/>
            <a:chOff x="0" y="0"/>
            <a:chExt cx="889610" cy="8745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89635" cy="874522"/>
            </a:xfrm>
            <a:custGeom>
              <a:avLst/>
              <a:gdLst/>
              <a:ahLst/>
              <a:cxnLst/>
              <a:rect r="r" b="b" t="t" l="l"/>
              <a:pathLst>
                <a:path h="874522" w="889635">
                  <a:moveTo>
                    <a:pt x="0" y="0"/>
                  </a:moveTo>
                  <a:lnTo>
                    <a:pt x="889635" y="0"/>
                  </a:lnTo>
                  <a:lnTo>
                    <a:pt x="889635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26" r="2" b="-31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883113" y="6209367"/>
            <a:ext cx="656272" cy="655920"/>
            <a:chOff x="0" y="0"/>
            <a:chExt cx="875030" cy="8745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75030" cy="874522"/>
            </a:xfrm>
            <a:custGeom>
              <a:avLst/>
              <a:gdLst/>
              <a:ahLst/>
              <a:cxnLst/>
              <a:rect r="r" b="b" t="t" l="l"/>
              <a:pathLst>
                <a:path h="874522" w="875030">
                  <a:moveTo>
                    <a:pt x="0" y="0"/>
                  </a:moveTo>
                  <a:lnTo>
                    <a:pt x="875030" y="0"/>
                  </a:lnTo>
                  <a:lnTo>
                    <a:pt x="875030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26" r="0" b="-31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017601" y="6209367"/>
            <a:ext cx="448447" cy="655920"/>
            <a:chOff x="0" y="0"/>
            <a:chExt cx="597929" cy="8745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97916" cy="874522"/>
            </a:xfrm>
            <a:custGeom>
              <a:avLst/>
              <a:gdLst/>
              <a:ahLst/>
              <a:cxnLst/>
              <a:rect r="r" b="b" t="t" l="l"/>
              <a:pathLst>
                <a:path h="874522" w="597916">
                  <a:moveTo>
                    <a:pt x="0" y="0"/>
                  </a:moveTo>
                  <a:lnTo>
                    <a:pt x="597916" y="0"/>
                  </a:lnTo>
                  <a:lnTo>
                    <a:pt x="597916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6" r="-2" b="-31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7194216" y="6209367"/>
            <a:ext cx="448447" cy="655920"/>
            <a:chOff x="0" y="0"/>
            <a:chExt cx="597929" cy="8745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97916" cy="874522"/>
            </a:xfrm>
            <a:custGeom>
              <a:avLst/>
              <a:gdLst/>
              <a:ahLst/>
              <a:cxnLst/>
              <a:rect r="r" b="b" t="t" l="l"/>
              <a:pathLst>
                <a:path h="874522" w="597916">
                  <a:moveTo>
                    <a:pt x="0" y="0"/>
                  </a:moveTo>
                  <a:lnTo>
                    <a:pt x="597916" y="0"/>
                  </a:lnTo>
                  <a:lnTo>
                    <a:pt x="597916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26" r="-2" b="-31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092352" y="7062064"/>
            <a:ext cx="11550320" cy="229572"/>
            <a:chOff x="0" y="0"/>
            <a:chExt cx="15400426" cy="30609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400401" cy="306070"/>
            </a:xfrm>
            <a:custGeom>
              <a:avLst/>
              <a:gdLst/>
              <a:ahLst/>
              <a:cxnLst/>
              <a:rect r="r" b="b" t="t" l="l"/>
              <a:pathLst>
                <a:path h="306070" w="15400401">
                  <a:moveTo>
                    <a:pt x="0" y="0"/>
                  </a:moveTo>
                  <a:lnTo>
                    <a:pt x="15400401" y="0"/>
                  </a:lnTo>
                  <a:lnTo>
                    <a:pt x="15400401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24" r="0" b="-37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6113078" y="7420823"/>
            <a:ext cx="7519245" cy="178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6"/>
              </a:lnSpc>
            </a:pPr>
            <a:r>
              <a:rPr lang="en-US" sz="6177" spc="-183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From </a:t>
            </a:r>
            <a:r>
              <a:rPr lang="en-US" b="true" sz="6177" spc="-183">
                <a:solidFill>
                  <a:srgbClr val="0DAAB2"/>
                </a:solidFill>
                <a:latin typeface="Heebo Bold"/>
                <a:ea typeface="Heebo Bold"/>
                <a:cs typeface="Heebo Bold"/>
                <a:sym typeface="Heebo Bold"/>
              </a:rPr>
              <a:t>reactive visits</a:t>
            </a:r>
            <a:r>
              <a:rPr lang="en-US" sz="6177" spc="-183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 to </a:t>
            </a:r>
            <a:r>
              <a:rPr lang="en-US" b="true" sz="6177" spc="-183">
                <a:solidFill>
                  <a:srgbClr val="0DAAB2"/>
                </a:solidFill>
                <a:latin typeface="Heebo Bold"/>
                <a:ea typeface="Heebo Bold"/>
                <a:cs typeface="Heebo Bold"/>
                <a:sym typeface="Heebo Bold"/>
              </a:rPr>
              <a:t>continuous foresight</a:t>
            </a:r>
            <a:r>
              <a:rPr lang="en-US" sz="6177" spc="-183">
                <a:solidFill>
                  <a:srgbClr val="F8F8F8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198203" y="4008720"/>
            <a:ext cx="4018359" cy="41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b="true" sz="2226" spc="-65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Scale and expand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340578" y="4008720"/>
            <a:ext cx="4018359" cy="41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b="true" sz="2226" spc="-65">
                <a:solidFill>
                  <a:srgbClr val="F8F8F8"/>
                </a:solidFill>
                <a:latin typeface="Heebo Bold"/>
                <a:ea typeface="Heebo Bold"/>
                <a:cs typeface="Heebo Bold"/>
                <a:sym typeface="Heebo Bold"/>
              </a:rPr>
              <a:t>Prospective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DAHY7Od9-Eo</dc:identifier>
  <dcterms:modified xsi:type="dcterms:W3CDTF">2011-08-01T06:04:30Z</dcterms:modified>
  <cp:revision>1</cp:revision>
  <dc:title>Canva_Final_PPT_original_backup.pptx</dc:title>
</cp:coreProperties>
</file>